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66" r:id="rId3"/>
    <p:sldId id="367" r:id="rId4"/>
    <p:sldId id="368" r:id="rId5"/>
    <p:sldId id="369" r:id="rId6"/>
    <p:sldId id="362" r:id="rId7"/>
    <p:sldId id="363" r:id="rId8"/>
    <p:sldId id="364" r:id="rId9"/>
    <p:sldId id="258" r:id="rId10"/>
    <p:sldId id="356" r:id="rId11"/>
    <p:sldId id="359" r:id="rId12"/>
    <p:sldId id="357" r:id="rId13"/>
    <p:sldId id="370" r:id="rId14"/>
    <p:sldId id="360" r:id="rId15"/>
    <p:sldId id="361" r:id="rId16"/>
    <p:sldId id="358" r:id="rId17"/>
    <p:sldId id="365" r:id="rId1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739" y="40893"/>
            <a:ext cx="3053715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9984" y="4983378"/>
            <a:ext cx="1767459" cy="8707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89984" y="4983378"/>
            <a:ext cx="1767459" cy="8707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12"/>
            <a:ext cx="9144000" cy="469900"/>
          </a:xfrm>
          <a:custGeom>
            <a:avLst/>
            <a:gdLst/>
            <a:ahLst/>
            <a:cxnLst/>
            <a:rect l="l" t="t" r="r" b="b"/>
            <a:pathLst>
              <a:path w="9144000" h="469900">
                <a:moveTo>
                  <a:pt x="9144000" y="0"/>
                </a:moveTo>
                <a:lnTo>
                  <a:pt x="0" y="0"/>
                </a:lnTo>
                <a:lnTo>
                  <a:pt x="0" y="469506"/>
                </a:lnTo>
                <a:lnTo>
                  <a:pt x="9144000" y="469506"/>
                </a:lnTo>
                <a:lnTo>
                  <a:pt x="9144000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2"/>
            <a:ext cx="9144000" cy="469900"/>
          </a:xfrm>
          <a:custGeom>
            <a:avLst/>
            <a:gdLst/>
            <a:ahLst/>
            <a:cxnLst/>
            <a:rect l="l" t="t" r="r" b="b"/>
            <a:pathLst>
              <a:path w="9144000" h="469900">
                <a:moveTo>
                  <a:pt x="0" y="469506"/>
                </a:moveTo>
                <a:lnTo>
                  <a:pt x="9144000" y="469506"/>
                </a:lnTo>
                <a:lnTo>
                  <a:pt x="9144000" y="0"/>
                </a:lnTo>
                <a:lnTo>
                  <a:pt x="0" y="0"/>
                </a:lnTo>
                <a:lnTo>
                  <a:pt x="0" y="469506"/>
                </a:lnTo>
                <a:close/>
              </a:path>
            </a:pathLst>
          </a:custGeom>
          <a:ln w="9525">
            <a:solidFill>
              <a:srgbClr val="4285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40893"/>
            <a:ext cx="4873625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48639" y="1808226"/>
            <a:ext cx="7344409" cy="1880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5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246364" y="4245876"/>
            <a:ext cx="897890" cy="897890"/>
            <a:chOff x="8246364" y="4245876"/>
            <a:chExt cx="897890" cy="897890"/>
          </a:xfrm>
        </p:grpSpPr>
        <p:sp>
          <p:nvSpPr>
            <p:cNvPr id="5" name="object 5"/>
            <p:cNvSpPr/>
            <p:nvPr/>
          </p:nvSpPr>
          <p:spPr>
            <a:xfrm>
              <a:off x="8246364" y="4245927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897635" y="0"/>
                  </a:moveTo>
                  <a:lnTo>
                    <a:pt x="0" y="897596"/>
                  </a:lnTo>
                  <a:lnTo>
                    <a:pt x="897635" y="897596"/>
                  </a:lnTo>
                  <a:lnTo>
                    <a:pt x="8976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46364" y="4245876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897635" y="0"/>
                  </a:moveTo>
                  <a:lnTo>
                    <a:pt x="149605" y="0"/>
                  </a:lnTo>
                  <a:lnTo>
                    <a:pt x="102347" y="7626"/>
                  </a:lnTo>
                  <a:lnTo>
                    <a:pt x="61283" y="28864"/>
                  </a:lnTo>
                  <a:lnTo>
                    <a:pt x="28886" y="61250"/>
                  </a:lnTo>
                  <a:lnTo>
                    <a:pt x="7634" y="102318"/>
                  </a:lnTo>
                  <a:lnTo>
                    <a:pt x="0" y="149605"/>
                  </a:lnTo>
                  <a:lnTo>
                    <a:pt x="0" y="897598"/>
                  </a:lnTo>
                  <a:lnTo>
                    <a:pt x="897635" y="897598"/>
                  </a:lnTo>
                  <a:lnTo>
                    <a:pt x="897635" y="0"/>
                  </a:lnTo>
                  <a:close/>
                </a:path>
              </a:pathLst>
            </a:custGeom>
            <a:solidFill>
              <a:srgbClr val="FFFFFF">
                <a:alpha val="6784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53083" y="98008"/>
            <a:ext cx="5897245" cy="2099310"/>
          </a:xfrm>
          <a:prstGeom prst="rect">
            <a:avLst/>
          </a:prstGeom>
        </p:spPr>
        <p:txBody>
          <a:bodyPr vert="horz" wrap="square" lIns="0" tIns="21145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64"/>
              </a:spcBef>
            </a:pPr>
            <a:r>
              <a:rPr sz="4800" b="0" dirty="0">
                <a:latin typeface="Roboto"/>
                <a:cs typeface="Roboto"/>
              </a:rPr>
              <a:t>Aprendizaje</a:t>
            </a:r>
            <a:r>
              <a:rPr sz="4800" b="0" spc="-270" dirty="0">
                <a:latin typeface="Roboto"/>
                <a:cs typeface="Roboto"/>
              </a:rPr>
              <a:t> </a:t>
            </a:r>
            <a:r>
              <a:rPr sz="4800" b="0" spc="-10" dirty="0">
                <a:latin typeface="Roboto"/>
                <a:cs typeface="Roboto"/>
              </a:rPr>
              <a:t>Profundo</a:t>
            </a:r>
            <a:endParaRPr sz="4800">
              <a:latin typeface="Roboto"/>
              <a:cs typeface="Roboto"/>
            </a:endParaRPr>
          </a:p>
          <a:p>
            <a:pPr marL="290195" marR="283210" indent="2540" algn="ctr">
              <a:lnSpc>
                <a:spcPct val="100000"/>
              </a:lnSpc>
              <a:spcBef>
                <a:spcPts val="1080"/>
              </a:spcBef>
            </a:pPr>
            <a:r>
              <a:rPr sz="3300" b="0" spc="-10" dirty="0">
                <a:latin typeface="Roboto"/>
                <a:cs typeface="Roboto"/>
              </a:rPr>
              <a:t>Facultad</a:t>
            </a:r>
            <a:r>
              <a:rPr sz="3300" b="0" spc="-100" dirty="0">
                <a:latin typeface="Roboto"/>
                <a:cs typeface="Roboto"/>
              </a:rPr>
              <a:t> </a:t>
            </a:r>
            <a:r>
              <a:rPr sz="3300" b="0" dirty="0">
                <a:latin typeface="Roboto"/>
                <a:cs typeface="Roboto"/>
              </a:rPr>
              <a:t>de</a:t>
            </a:r>
            <a:r>
              <a:rPr sz="3300" b="0" spc="-80" dirty="0">
                <a:latin typeface="Roboto"/>
                <a:cs typeface="Roboto"/>
              </a:rPr>
              <a:t> </a:t>
            </a:r>
            <a:r>
              <a:rPr sz="3300" b="0" spc="-10" dirty="0">
                <a:latin typeface="Roboto"/>
                <a:cs typeface="Roboto"/>
              </a:rPr>
              <a:t>Ingeniería </a:t>
            </a:r>
            <a:r>
              <a:rPr sz="3300" b="0" spc="-35" dirty="0">
                <a:latin typeface="Roboto"/>
                <a:cs typeface="Roboto"/>
              </a:rPr>
              <a:t>Universidad</a:t>
            </a:r>
            <a:r>
              <a:rPr sz="3300" b="0" spc="-114" dirty="0">
                <a:latin typeface="Roboto"/>
                <a:cs typeface="Roboto"/>
              </a:rPr>
              <a:t> </a:t>
            </a:r>
            <a:r>
              <a:rPr sz="3300" b="0" dirty="0">
                <a:latin typeface="Roboto"/>
                <a:cs typeface="Roboto"/>
              </a:rPr>
              <a:t>de</a:t>
            </a:r>
            <a:r>
              <a:rPr sz="3300" b="0" spc="-114" dirty="0">
                <a:latin typeface="Roboto"/>
                <a:cs typeface="Roboto"/>
              </a:rPr>
              <a:t> </a:t>
            </a:r>
            <a:r>
              <a:rPr sz="3300" b="0" spc="-10" dirty="0">
                <a:latin typeface="Roboto"/>
                <a:cs typeface="Roboto"/>
              </a:rPr>
              <a:t>Buenos</a:t>
            </a:r>
            <a:r>
              <a:rPr sz="3300" b="0" spc="-120" dirty="0">
                <a:latin typeface="Roboto"/>
                <a:cs typeface="Roboto"/>
              </a:rPr>
              <a:t> </a:t>
            </a:r>
            <a:r>
              <a:rPr sz="3300" b="0" spc="-10" dirty="0">
                <a:latin typeface="Roboto"/>
                <a:cs typeface="Roboto"/>
              </a:rPr>
              <a:t>Aires</a:t>
            </a:r>
            <a:endParaRPr sz="3300"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9088" y="2371725"/>
            <a:ext cx="1385951" cy="1385951"/>
          </a:xfrm>
          <a:prstGeom prst="rect">
            <a:avLst/>
          </a:prstGeom>
        </p:spPr>
      </p:pic>
      <p:sp>
        <p:nvSpPr>
          <p:cNvPr id="10" name="object 6">
            <a:extLst>
              <a:ext uri="{FF2B5EF4-FFF2-40B4-BE49-F238E27FC236}">
                <a16:creationId xmlns:a16="http://schemas.microsoft.com/office/drawing/2014/main" id="{CF989B8A-64C9-5902-AAD1-CD2964BA6076}"/>
              </a:ext>
            </a:extLst>
          </p:cNvPr>
          <p:cNvSpPr txBox="1"/>
          <p:nvPr/>
        </p:nvSpPr>
        <p:spPr>
          <a:xfrm>
            <a:off x="380183" y="3876295"/>
            <a:ext cx="4136390" cy="9611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75"/>
              </a:lnSpc>
              <a:spcBef>
                <a:spcPts val="95"/>
              </a:spcBef>
            </a:pPr>
            <a:r>
              <a:rPr lang="es-PE" sz="2200" spc="-10" noProof="0" dirty="0">
                <a:solidFill>
                  <a:srgbClr val="FFFFFF"/>
                </a:solidFill>
                <a:latin typeface="Roboto"/>
                <a:cs typeface="Roboto"/>
              </a:rPr>
              <a:t>    Profesores:</a:t>
            </a:r>
            <a:endParaRPr lang="es-PE" sz="2200" spc="-10" dirty="0">
              <a:latin typeface="Roboto"/>
              <a:cs typeface="Roboto"/>
            </a:endParaRPr>
          </a:p>
          <a:p>
            <a:pPr marL="12700">
              <a:lnSpc>
                <a:spcPts val="2375"/>
              </a:lnSpc>
              <a:spcBef>
                <a:spcPts val="95"/>
              </a:spcBef>
            </a:pPr>
            <a:r>
              <a:rPr lang="es-PE" sz="2200" spc="-10" noProof="0" dirty="0">
                <a:solidFill>
                  <a:srgbClr val="FFFFFF"/>
                </a:solidFill>
                <a:latin typeface="Roboto"/>
                <a:cs typeface="Roboto"/>
              </a:rPr>
              <a:t>		</a:t>
            </a:r>
            <a:r>
              <a:rPr lang="es-PE" sz="2200" noProof="0" dirty="0">
                <a:solidFill>
                  <a:srgbClr val="FFFFFF"/>
                </a:solidFill>
                <a:latin typeface="Roboto"/>
                <a:cs typeface="Roboto"/>
              </a:rPr>
              <a:t>Marcos</a:t>
            </a:r>
            <a:r>
              <a:rPr lang="es-PE" sz="2200" spc="-80" noProof="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lang="es-PE" sz="2200" spc="-10" noProof="0" dirty="0">
                <a:solidFill>
                  <a:srgbClr val="FFFFFF"/>
                </a:solidFill>
                <a:latin typeface="Roboto"/>
                <a:cs typeface="Roboto"/>
              </a:rPr>
              <a:t>Maillot</a:t>
            </a:r>
          </a:p>
          <a:p>
            <a:pPr marL="12700">
              <a:lnSpc>
                <a:spcPts val="2375"/>
              </a:lnSpc>
              <a:spcBef>
                <a:spcPts val="95"/>
              </a:spcBef>
            </a:pPr>
            <a:r>
              <a:rPr lang="es-PE" sz="2200" spc="-10" dirty="0">
                <a:solidFill>
                  <a:srgbClr val="FFFFFF"/>
                </a:solidFill>
                <a:latin typeface="Roboto"/>
                <a:cs typeface="Roboto"/>
              </a:rPr>
              <a:t>		</a:t>
            </a:r>
            <a:r>
              <a:rPr lang="es-PE" sz="2200" noProof="0" dirty="0">
                <a:solidFill>
                  <a:srgbClr val="FFFFFF"/>
                </a:solidFill>
                <a:latin typeface="Roboto"/>
                <a:cs typeface="Roboto"/>
              </a:rPr>
              <a:t>Gerardo</a:t>
            </a:r>
            <a:r>
              <a:rPr lang="es-PE" sz="2200" spc="-114" noProof="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lang="es-PE" sz="2200" spc="-10" noProof="0" dirty="0">
                <a:solidFill>
                  <a:srgbClr val="FFFFFF"/>
                </a:solidFill>
                <a:latin typeface="Roboto"/>
                <a:cs typeface="Roboto"/>
              </a:rPr>
              <a:t>Vilcamiza</a:t>
            </a:r>
            <a:endParaRPr lang="es-PE" sz="2200" noProof="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AF6C7-9276-D692-3D35-2DF182CBF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79726B2-BE4D-586A-1895-EC2C0DF3BC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9163" y="2125167"/>
            <a:ext cx="657161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4800" b="0" spc="-30" dirty="0" err="1"/>
              <a:t>Learning</a:t>
            </a:r>
            <a:r>
              <a:rPr lang="es-PE" sz="4800" b="0" spc="-30" dirty="0"/>
              <a:t> curve</a:t>
            </a:r>
            <a:endParaRPr lang="es-PE" sz="4800" dirty="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92060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772E2-B242-8429-41BB-EE10DECEB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881342B-A66D-8828-A108-39A4B6DB0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9240"/>
            <a:ext cx="5211445" cy="738664"/>
          </a:xfrm>
        </p:spPr>
        <p:txBody>
          <a:bodyPr/>
          <a:lstStyle/>
          <a:p>
            <a:r>
              <a:rPr lang="es-PE" sz="2400" dirty="0" err="1"/>
              <a:t>Learning</a:t>
            </a:r>
            <a:r>
              <a:rPr lang="es-PE" sz="2400" dirty="0"/>
              <a:t> curve</a:t>
            </a:r>
            <a:br>
              <a:rPr lang="es-PE" sz="2400" b="0" dirty="0"/>
            </a:br>
            <a:endParaRPr lang="es-PE" sz="2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03AAAF-6CB6-9D7B-F54D-067E0D48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06954"/>
            <a:ext cx="5624867" cy="389077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956511B-879E-C18B-7974-A24BDA000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882776"/>
            <a:ext cx="3334801" cy="1450974"/>
          </a:xfrm>
          <a:prstGeom prst="rect">
            <a:avLst/>
          </a:prstGeom>
        </p:spPr>
      </p:pic>
      <p:pic>
        <p:nvPicPr>
          <p:cNvPr id="9" name="object 3">
            <a:extLst>
              <a:ext uri="{FF2B5EF4-FFF2-40B4-BE49-F238E27FC236}">
                <a16:creationId xmlns:a16="http://schemas.microsoft.com/office/drawing/2014/main" id="{6AD654E9-0916-0FCC-94EB-DA9C2DD38B7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488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33017-611F-8144-1471-08FE4EF13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907BC9F-1790-86E2-D5A6-E251E1D20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39" y="819150"/>
            <a:ext cx="6063861" cy="3842208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4D1E4609-0719-6DA3-2AE1-79AF3896451F}"/>
              </a:ext>
            </a:extLst>
          </p:cNvPr>
          <p:cNvSpPr txBox="1"/>
          <p:nvPr/>
        </p:nvSpPr>
        <p:spPr>
          <a:xfrm>
            <a:off x="5615685" y="2055262"/>
            <a:ext cx="3071115" cy="12484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latin typeface="Roboto"/>
                <a:cs typeface="Roboto"/>
              </a:rPr>
              <a:t>¿Qué</a:t>
            </a:r>
            <a:r>
              <a:rPr sz="1600" b="1" spc="-15" dirty="0">
                <a:latin typeface="Roboto"/>
                <a:cs typeface="Roboto"/>
              </a:rPr>
              <a:t> </a:t>
            </a:r>
            <a:r>
              <a:rPr sz="1600" b="1" dirty="0">
                <a:latin typeface="Roboto"/>
                <a:cs typeface="Roboto"/>
              </a:rPr>
              <a:t>puedo</a:t>
            </a:r>
            <a:r>
              <a:rPr sz="1600" b="1" spc="-30" dirty="0">
                <a:latin typeface="Roboto"/>
                <a:cs typeface="Roboto"/>
              </a:rPr>
              <a:t> </a:t>
            </a:r>
            <a:r>
              <a:rPr sz="1600" b="1" spc="-10" dirty="0">
                <a:latin typeface="Roboto"/>
                <a:cs typeface="Roboto"/>
              </a:rPr>
              <a:t>hacer?</a:t>
            </a:r>
            <a:endParaRPr sz="1600" dirty="0">
              <a:latin typeface="Roboto"/>
              <a:cs typeface="Roboto"/>
            </a:endParaRPr>
          </a:p>
          <a:p>
            <a:pPr marL="556260" indent="-330835">
              <a:lnSpc>
                <a:spcPct val="100000"/>
              </a:lnSpc>
              <a:spcBef>
                <a:spcPts val="1005"/>
              </a:spcBef>
              <a:buClr>
                <a:srgbClr val="000000"/>
              </a:buClr>
              <a:buSzPct val="114285"/>
              <a:buFont typeface="Times New Roman"/>
              <a:buChar char="●"/>
              <a:tabLst>
                <a:tab pos="556260" algn="l"/>
              </a:tabLst>
            </a:pPr>
            <a:r>
              <a:rPr sz="1400" b="1" dirty="0">
                <a:solidFill>
                  <a:srgbClr val="1F1F1F"/>
                </a:solidFill>
                <a:latin typeface="Roboto"/>
                <a:cs typeface="Roboto"/>
              </a:rPr>
              <a:t>Modelo</a:t>
            </a:r>
            <a:r>
              <a:rPr sz="1400" dirty="0">
                <a:solidFill>
                  <a:srgbClr val="1F1F1F"/>
                </a:solidFill>
                <a:latin typeface="Roboto"/>
                <a:cs typeface="Roboto"/>
              </a:rPr>
              <a:t>:</a:t>
            </a:r>
            <a:r>
              <a:rPr sz="1400" spc="-35" dirty="0">
                <a:solidFill>
                  <a:srgbClr val="1F1F1F"/>
                </a:solidFill>
                <a:latin typeface="Roboto"/>
                <a:cs typeface="Roboto"/>
              </a:rPr>
              <a:t> </a:t>
            </a:r>
            <a:r>
              <a:rPr lang="es-ES" sz="1400" spc="-10" dirty="0">
                <a:solidFill>
                  <a:srgbClr val="1F1F1F"/>
                </a:solidFill>
                <a:latin typeface="Roboto"/>
                <a:cs typeface="Roboto"/>
              </a:rPr>
              <a:t>usar técnicas de</a:t>
            </a:r>
            <a:r>
              <a:rPr sz="1400" spc="-45" dirty="0">
                <a:solidFill>
                  <a:srgbClr val="1F1F1F"/>
                </a:solidFill>
                <a:latin typeface="Roboto"/>
                <a:cs typeface="Roboto"/>
              </a:rPr>
              <a:t> </a:t>
            </a:r>
            <a:r>
              <a:rPr lang="es-PE" sz="1400" spc="-10" noProof="0" dirty="0">
                <a:solidFill>
                  <a:srgbClr val="1F1F1F"/>
                </a:solidFill>
                <a:latin typeface="Roboto"/>
                <a:cs typeface="Roboto"/>
              </a:rPr>
              <a:t>regularización</a:t>
            </a:r>
            <a:endParaRPr lang="es-PE" sz="1400" noProof="0" dirty="0">
              <a:latin typeface="Roboto"/>
              <a:cs typeface="Roboto"/>
            </a:endParaRPr>
          </a:p>
          <a:p>
            <a:pPr marL="556260" indent="-330835">
              <a:lnSpc>
                <a:spcPct val="100000"/>
              </a:lnSpc>
              <a:buClr>
                <a:srgbClr val="000000"/>
              </a:buClr>
              <a:buSzPct val="114285"/>
              <a:buFont typeface="Times New Roman"/>
              <a:buChar char="●"/>
              <a:tabLst>
                <a:tab pos="556260" algn="l"/>
              </a:tabLst>
            </a:pPr>
            <a:r>
              <a:rPr sz="1400" b="1" dirty="0">
                <a:solidFill>
                  <a:srgbClr val="1F1F1F"/>
                </a:solidFill>
                <a:latin typeface="Roboto"/>
                <a:cs typeface="Roboto"/>
              </a:rPr>
              <a:t>Datos:</a:t>
            </a:r>
            <a:r>
              <a:rPr sz="1400" b="1" spc="-30" dirty="0">
                <a:solidFill>
                  <a:srgbClr val="1F1F1F"/>
                </a:solidFill>
                <a:latin typeface="Roboto"/>
                <a:cs typeface="Roboto"/>
              </a:rPr>
              <a:t> </a:t>
            </a:r>
            <a:r>
              <a:rPr lang="es-PE" sz="1400" spc="-10" noProof="0" dirty="0">
                <a:solidFill>
                  <a:srgbClr val="1F1F1F"/>
                </a:solidFill>
                <a:latin typeface="Roboto"/>
                <a:cs typeface="Roboto"/>
              </a:rPr>
              <a:t>agregar</a:t>
            </a:r>
            <a:r>
              <a:rPr sz="1400" spc="-65" dirty="0">
                <a:solidFill>
                  <a:srgbClr val="1F1F1F"/>
                </a:solidFill>
                <a:latin typeface="Roboto"/>
                <a:cs typeface="Roboto"/>
              </a:rPr>
              <a:t> </a:t>
            </a:r>
            <a:r>
              <a:rPr lang="es-PE" sz="1400" noProof="0" dirty="0">
                <a:solidFill>
                  <a:srgbClr val="1F1F1F"/>
                </a:solidFill>
                <a:latin typeface="Roboto"/>
                <a:cs typeface="Roboto"/>
              </a:rPr>
              <a:t>más</a:t>
            </a:r>
            <a:r>
              <a:rPr sz="1400" spc="-45" dirty="0">
                <a:solidFill>
                  <a:srgbClr val="1F1F1F"/>
                </a:solidFill>
                <a:latin typeface="Roboto"/>
                <a:cs typeface="Roboto"/>
              </a:rPr>
              <a:t> </a:t>
            </a:r>
            <a:r>
              <a:rPr lang="es-PE" sz="1400" spc="-10" noProof="0" dirty="0">
                <a:solidFill>
                  <a:srgbClr val="1F1F1F"/>
                </a:solidFill>
                <a:latin typeface="Roboto"/>
                <a:cs typeface="Roboto"/>
              </a:rPr>
              <a:t>muestras</a:t>
            </a:r>
            <a:r>
              <a:rPr lang="es-ES" sz="1400" spc="-10" dirty="0">
                <a:solidFill>
                  <a:srgbClr val="1F1F1F"/>
                </a:solidFill>
                <a:latin typeface="Roboto"/>
                <a:cs typeface="Roboto"/>
              </a:rPr>
              <a:t> diversas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12" name="Título 6">
            <a:extLst>
              <a:ext uri="{FF2B5EF4-FFF2-40B4-BE49-F238E27FC236}">
                <a16:creationId xmlns:a16="http://schemas.microsoft.com/office/drawing/2014/main" id="{225CF76E-9678-82A9-E224-8463FD6D6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9240"/>
            <a:ext cx="5211445" cy="738664"/>
          </a:xfrm>
        </p:spPr>
        <p:txBody>
          <a:bodyPr/>
          <a:lstStyle/>
          <a:p>
            <a:r>
              <a:rPr lang="es-PE" sz="2400" dirty="0" err="1"/>
              <a:t>Learning</a:t>
            </a:r>
            <a:r>
              <a:rPr lang="es-PE" sz="2400" dirty="0"/>
              <a:t> curve</a:t>
            </a:r>
            <a:br>
              <a:rPr lang="es-PE" sz="2400" b="0" dirty="0"/>
            </a:br>
            <a:endParaRPr lang="es-PE" sz="2400" dirty="0"/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0E4520F3-CF27-5698-86FC-D74FA2DB5D5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676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56407-A647-12F9-0D52-6817CE6BB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8697A44-F79B-5B6D-D389-CF3D3D0F3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19150"/>
            <a:ext cx="5387940" cy="3867150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708E5960-18B7-57D2-0AA0-F61203699F5F}"/>
              </a:ext>
            </a:extLst>
          </p:cNvPr>
          <p:cNvSpPr txBox="1"/>
          <p:nvPr/>
        </p:nvSpPr>
        <p:spPr>
          <a:xfrm>
            <a:off x="5692740" y="1962150"/>
            <a:ext cx="2979420" cy="1463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Roboto"/>
                <a:cs typeface="Roboto"/>
              </a:rPr>
              <a:t>Fit</a:t>
            </a:r>
            <a:r>
              <a:rPr sz="1600" b="1" spc="-55" dirty="0">
                <a:latin typeface="Roboto"/>
                <a:cs typeface="Roboto"/>
              </a:rPr>
              <a:t> </a:t>
            </a:r>
            <a:r>
              <a:rPr sz="1600" b="1" spc="-10" dirty="0">
                <a:latin typeface="Roboto"/>
                <a:cs typeface="Roboto"/>
              </a:rPr>
              <a:t>perfecto</a:t>
            </a:r>
            <a:endParaRPr sz="1600" dirty="0">
              <a:latin typeface="Roboto"/>
              <a:cs typeface="Roboto"/>
            </a:endParaRPr>
          </a:p>
          <a:p>
            <a:pPr marL="469900" marR="283845" indent="-317500">
              <a:lnSpc>
                <a:spcPct val="100000"/>
              </a:lnSpc>
              <a:spcBef>
                <a:spcPts val="1005"/>
              </a:spcBef>
              <a:buFont typeface="Times New Roman"/>
              <a:buChar char="●"/>
              <a:tabLst>
                <a:tab pos="469900" algn="l"/>
              </a:tabLst>
            </a:pPr>
            <a:r>
              <a:rPr sz="1400" dirty="0">
                <a:latin typeface="Roboto"/>
                <a:cs typeface="Roboto"/>
              </a:rPr>
              <a:t>Bajo</a:t>
            </a:r>
            <a:r>
              <a:rPr sz="1400" spc="-4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GAP</a:t>
            </a:r>
            <a:r>
              <a:rPr sz="1400" spc="-3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de</a:t>
            </a:r>
            <a:r>
              <a:rPr sz="1400" spc="-4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la</a:t>
            </a:r>
            <a:r>
              <a:rPr sz="1400" spc="-3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métrica</a:t>
            </a:r>
            <a:r>
              <a:rPr sz="1400" spc="-45" dirty="0">
                <a:latin typeface="Roboto"/>
                <a:cs typeface="Roboto"/>
              </a:rPr>
              <a:t> </a:t>
            </a:r>
            <a:r>
              <a:rPr sz="1400" spc="-25" dirty="0">
                <a:latin typeface="Roboto"/>
                <a:cs typeface="Roboto"/>
              </a:rPr>
              <a:t>de </a:t>
            </a:r>
            <a:r>
              <a:rPr sz="1400" spc="-20" dirty="0">
                <a:latin typeface="Roboto"/>
                <a:cs typeface="Roboto"/>
              </a:rPr>
              <a:t>entrenamiento</a:t>
            </a:r>
            <a:r>
              <a:rPr sz="1400" spc="-4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respecto</a:t>
            </a:r>
            <a:r>
              <a:rPr sz="1400" spc="-1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a</a:t>
            </a:r>
            <a:r>
              <a:rPr sz="1400" spc="-20" dirty="0">
                <a:latin typeface="Roboto"/>
                <a:cs typeface="Roboto"/>
              </a:rPr>
              <a:t> </a:t>
            </a:r>
            <a:r>
              <a:rPr sz="1400" spc="-25" dirty="0">
                <a:latin typeface="Roboto"/>
                <a:cs typeface="Roboto"/>
              </a:rPr>
              <a:t>la </a:t>
            </a:r>
            <a:r>
              <a:rPr sz="1400" dirty="0">
                <a:latin typeface="Roboto"/>
                <a:cs typeface="Roboto"/>
              </a:rPr>
              <a:t>métrica</a:t>
            </a:r>
            <a:r>
              <a:rPr sz="1400" spc="-90" dirty="0">
                <a:latin typeface="Roboto"/>
                <a:cs typeface="Roboto"/>
              </a:rPr>
              <a:t> </a:t>
            </a:r>
            <a:r>
              <a:rPr sz="1400" spc="-20" dirty="0">
                <a:latin typeface="Roboto"/>
                <a:cs typeface="Roboto"/>
              </a:rPr>
              <a:t>ideal</a:t>
            </a:r>
            <a:endParaRPr sz="1400" dirty="0">
              <a:latin typeface="Roboto"/>
              <a:cs typeface="Roboto"/>
            </a:endParaRPr>
          </a:p>
          <a:p>
            <a:pPr marL="469900" marR="5080" indent="-317500">
              <a:lnSpc>
                <a:spcPct val="100000"/>
              </a:lnSpc>
              <a:buFont typeface="Times New Roman"/>
              <a:buChar char="●"/>
              <a:tabLst>
                <a:tab pos="469900" algn="l"/>
              </a:tabLst>
            </a:pPr>
            <a:r>
              <a:rPr sz="1400" dirty="0">
                <a:latin typeface="Roboto"/>
                <a:cs typeface="Roboto"/>
              </a:rPr>
              <a:t>Bajo</a:t>
            </a:r>
            <a:r>
              <a:rPr sz="1400" spc="-4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GAP</a:t>
            </a:r>
            <a:r>
              <a:rPr sz="1400" spc="-3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entre</a:t>
            </a:r>
            <a:r>
              <a:rPr sz="1400" spc="28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las</a:t>
            </a:r>
            <a:r>
              <a:rPr sz="1400" spc="-25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métricas</a:t>
            </a:r>
            <a:r>
              <a:rPr sz="1400" spc="-45" dirty="0">
                <a:latin typeface="Roboto"/>
                <a:cs typeface="Roboto"/>
              </a:rPr>
              <a:t> </a:t>
            </a:r>
            <a:r>
              <a:rPr sz="1400" spc="-25" dirty="0">
                <a:latin typeface="Roboto"/>
                <a:cs typeface="Roboto"/>
              </a:rPr>
              <a:t>de </a:t>
            </a:r>
            <a:r>
              <a:rPr sz="1400" spc="-20" dirty="0">
                <a:latin typeface="Roboto"/>
                <a:cs typeface="Roboto"/>
              </a:rPr>
              <a:t>entrenamiento</a:t>
            </a:r>
            <a:r>
              <a:rPr sz="1400" spc="-3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y</a:t>
            </a:r>
            <a:r>
              <a:rPr sz="1400" spc="15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validación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9" name="Título 6">
            <a:extLst>
              <a:ext uri="{FF2B5EF4-FFF2-40B4-BE49-F238E27FC236}">
                <a16:creationId xmlns:a16="http://schemas.microsoft.com/office/drawing/2014/main" id="{95DC2B9A-EE4A-DD5C-C431-56B63E56D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9240"/>
            <a:ext cx="5211445" cy="738664"/>
          </a:xfrm>
        </p:spPr>
        <p:txBody>
          <a:bodyPr/>
          <a:lstStyle/>
          <a:p>
            <a:r>
              <a:rPr lang="es-PE" sz="2400" dirty="0" err="1"/>
              <a:t>Learning</a:t>
            </a:r>
            <a:r>
              <a:rPr lang="es-PE" sz="2400" dirty="0"/>
              <a:t> curve</a:t>
            </a:r>
            <a:br>
              <a:rPr lang="es-PE" sz="2400" b="0" dirty="0"/>
            </a:br>
            <a:endParaRPr lang="es-PE" sz="2400" dirty="0"/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4AE76066-4C94-1C0F-D096-D34EE5E2214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0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EE808-0900-B97E-E40E-63A739B19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8A4CDF7-5CC4-E905-E597-9DF17AE188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9163" y="2125167"/>
            <a:ext cx="657161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4800" b="0" spc="-30" dirty="0" err="1"/>
              <a:t>Dropout</a:t>
            </a:r>
            <a:endParaRPr lang="es-PE" sz="4800" dirty="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79381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6C7C3-D99F-0DB1-C839-EF04BF883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31B553A-8561-6E43-0692-13EC7C8F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9240"/>
            <a:ext cx="5211445" cy="738664"/>
          </a:xfrm>
        </p:spPr>
        <p:txBody>
          <a:bodyPr/>
          <a:lstStyle/>
          <a:p>
            <a:r>
              <a:rPr lang="es-PE" sz="2400" dirty="0" err="1"/>
              <a:t>Dropout</a:t>
            </a:r>
            <a:br>
              <a:rPr lang="es-PE" sz="2400" b="0" dirty="0"/>
            </a:br>
            <a:endParaRPr lang="es-PE" sz="2400" dirty="0"/>
          </a:p>
        </p:txBody>
      </p:sp>
      <p:pic>
        <p:nvPicPr>
          <p:cNvPr id="2052" name="Picture 4" descr="Visión por Computador con Redes Neuronales | Nuclio School">
            <a:extLst>
              <a:ext uri="{FF2B5EF4-FFF2-40B4-BE49-F238E27FC236}">
                <a16:creationId xmlns:a16="http://schemas.microsoft.com/office/drawing/2014/main" id="{DCD7ABB2-6FF0-96D3-74A9-185AF2DFA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47750"/>
            <a:ext cx="6134100" cy="322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E4904A3-8757-1C39-B3A9-EE0DABDAEFB6}"/>
              </a:ext>
            </a:extLst>
          </p:cNvPr>
          <p:cNvSpPr txBox="1"/>
          <p:nvPr/>
        </p:nvSpPr>
        <p:spPr>
          <a:xfrm>
            <a:off x="6781800" y="1657350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p=0.4</a:t>
            </a:r>
            <a:endParaRPr lang="es-PE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E81F10F-0D76-81EF-EB21-C6EACD36A09B}"/>
              </a:ext>
            </a:extLst>
          </p:cNvPr>
          <p:cNvSpPr txBox="1"/>
          <p:nvPr/>
        </p:nvSpPr>
        <p:spPr>
          <a:xfrm>
            <a:off x="6781800" y="2659016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p=0.6</a:t>
            </a:r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6135D6-640B-29B3-6C22-9752E13C4A1E}"/>
              </a:ext>
            </a:extLst>
          </p:cNvPr>
          <p:cNvSpPr txBox="1"/>
          <p:nvPr/>
        </p:nvSpPr>
        <p:spPr>
          <a:xfrm>
            <a:off x="6781800" y="3660682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p=0.4</a:t>
            </a:r>
            <a:endParaRPr lang="es-PE" dirty="0"/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433BDD64-8C64-5B80-7AE0-E30370D851D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50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E2D82-E20F-2D49-9BCE-DB1789382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196AB9B7-69E1-547B-D0F9-8B602701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9240"/>
            <a:ext cx="5211445" cy="738664"/>
          </a:xfrm>
        </p:spPr>
        <p:txBody>
          <a:bodyPr/>
          <a:lstStyle/>
          <a:p>
            <a:r>
              <a:rPr lang="es-PE" sz="2400" dirty="0" err="1"/>
              <a:t>Dropout</a:t>
            </a:r>
            <a:br>
              <a:rPr lang="es-PE" sz="2400" b="0" dirty="0"/>
            </a:br>
            <a:endParaRPr lang="es-PE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>
                <a:extLst>
                  <a:ext uri="{FF2B5EF4-FFF2-40B4-BE49-F238E27FC236}">
                    <a16:creationId xmlns:a16="http://schemas.microsoft.com/office/drawing/2014/main" id="{6FC967C0-9022-3CDA-93BA-3E6ED0E68B71}"/>
                  </a:ext>
                </a:extLst>
              </p:cNvPr>
              <p:cNvSpPr/>
              <p:nvPr/>
            </p:nvSpPr>
            <p:spPr>
              <a:xfrm>
                <a:off x="2590800" y="1123950"/>
                <a:ext cx="1066800" cy="3048000"/>
              </a:xfrm>
              <a:prstGeom prst="rect">
                <a:avLst/>
              </a:prstGeom>
              <a:ln>
                <a:solidFill>
                  <a:srgbClr val="7030A0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PE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s-PE" sz="2400" dirty="0"/>
              </a:p>
            </p:txBody>
          </p:sp>
        </mc:Choice>
        <mc:Fallback xmlns="">
          <p:sp>
            <p:nvSpPr>
              <p:cNvPr id="2" name="Rectángulo 1">
                <a:extLst>
                  <a:ext uri="{FF2B5EF4-FFF2-40B4-BE49-F238E27FC236}">
                    <a16:creationId xmlns:a16="http://schemas.microsoft.com/office/drawing/2014/main" id="{6FC967C0-9022-3CDA-93BA-3E6ED0E68B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1123950"/>
                <a:ext cx="1066800" cy="3048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7C8FB48C-1D2E-80A2-877B-E6FF137E102F}"/>
                  </a:ext>
                </a:extLst>
              </p:cNvPr>
              <p:cNvSpPr/>
              <p:nvPr/>
            </p:nvSpPr>
            <p:spPr>
              <a:xfrm>
                <a:off x="4322956" y="1123950"/>
                <a:ext cx="1066800" cy="3048000"/>
              </a:xfrm>
              <a:prstGeom prst="rect">
                <a:avLst/>
              </a:prstGeom>
              <a:ln>
                <a:solidFill>
                  <a:srgbClr val="7030A0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PE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s-PE" sz="2400" dirty="0"/>
              </a:p>
            </p:txBody>
          </p:sp>
        </mc:Choice>
        <mc:Fallback xmlns="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7C8FB48C-1D2E-80A2-877B-E6FF137E10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956" y="1123950"/>
                <a:ext cx="1066800" cy="3048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>
            <a:extLst>
              <a:ext uri="{FF2B5EF4-FFF2-40B4-BE49-F238E27FC236}">
                <a16:creationId xmlns:a16="http://schemas.microsoft.com/office/drawing/2014/main" id="{3A729E83-DCFC-09CA-1F27-74B857205828}"/>
              </a:ext>
            </a:extLst>
          </p:cNvPr>
          <p:cNvSpPr/>
          <p:nvPr/>
        </p:nvSpPr>
        <p:spPr>
          <a:xfrm>
            <a:off x="6096000" y="1123950"/>
            <a:ext cx="381000" cy="3048000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000" dirty="0"/>
              <a:t>DROPOUT</a:t>
            </a:r>
            <a:endParaRPr lang="es-PE" sz="2000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04BD83F5-34EA-9D7A-5E32-9D4E94423336}"/>
              </a:ext>
            </a:extLst>
          </p:cNvPr>
          <p:cNvCxnSpPr/>
          <p:nvPr/>
        </p:nvCxnSpPr>
        <p:spPr>
          <a:xfrm>
            <a:off x="1447800" y="1657350"/>
            <a:ext cx="9144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FC49F278-CD59-40B1-5BB3-AF579A1C641A}"/>
              </a:ext>
            </a:extLst>
          </p:cNvPr>
          <p:cNvCxnSpPr/>
          <p:nvPr/>
        </p:nvCxnSpPr>
        <p:spPr>
          <a:xfrm>
            <a:off x="1447800" y="2495550"/>
            <a:ext cx="9144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27E507C6-620C-C391-F41E-FAD6F421ACA9}"/>
              </a:ext>
            </a:extLst>
          </p:cNvPr>
          <p:cNvCxnSpPr/>
          <p:nvPr/>
        </p:nvCxnSpPr>
        <p:spPr>
          <a:xfrm>
            <a:off x="1447800" y="3409950"/>
            <a:ext cx="9144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B54ED0C-3E41-4B60-9E8E-CF5724670E61}"/>
              </a:ext>
            </a:extLst>
          </p:cNvPr>
          <p:cNvCxnSpPr>
            <a:cxnSpLocks/>
          </p:cNvCxnSpPr>
          <p:nvPr/>
        </p:nvCxnSpPr>
        <p:spPr>
          <a:xfrm>
            <a:off x="3733800" y="2607564"/>
            <a:ext cx="47764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4D31E4D9-C04D-78BF-0E29-6A2990610E92}"/>
              </a:ext>
            </a:extLst>
          </p:cNvPr>
          <p:cNvCxnSpPr>
            <a:cxnSpLocks/>
          </p:cNvCxnSpPr>
          <p:nvPr/>
        </p:nvCxnSpPr>
        <p:spPr>
          <a:xfrm>
            <a:off x="5531485" y="2607564"/>
            <a:ext cx="47764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401C1958-B48E-70B2-98E5-82A9FBED03D8}"/>
              </a:ext>
            </a:extLst>
          </p:cNvPr>
          <p:cNvCxnSpPr>
            <a:cxnSpLocks/>
          </p:cNvCxnSpPr>
          <p:nvPr/>
        </p:nvCxnSpPr>
        <p:spPr>
          <a:xfrm>
            <a:off x="6553200" y="2607563"/>
            <a:ext cx="762000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Elipse 18">
            <a:extLst>
              <a:ext uri="{FF2B5EF4-FFF2-40B4-BE49-F238E27FC236}">
                <a16:creationId xmlns:a16="http://schemas.microsoft.com/office/drawing/2014/main" id="{083358DA-89DC-0048-A0B5-30722A0C128B}"/>
              </a:ext>
            </a:extLst>
          </p:cNvPr>
          <p:cNvSpPr/>
          <p:nvPr/>
        </p:nvSpPr>
        <p:spPr>
          <a:xfrm>
            <a:off x="762000" y="1266020"/>
            <a:ext cx="609600" cy="61612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x1</a:t>
            </a:r>
            <a:endParaRPr lang="es-PE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B307089F-8745-E7CE-F1FC-012738FF0E3F}"/>
              </a:ext>
            </a:extLst>
          </p:cNvPr>
          <p:cNvSpPr/>
          <p:nvPr/>
        </p:nvSpPr>
        <p:spPr>
          <a:xfrm>
            <a:off x="762000" y="2187489"/>
            <a:ext cx="609600" cy="61612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x2</a:t>
            </a:r>
            <a:endParaRPr lang="es-PE" dirty="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E0EC7817-F5C7-E035-7742-CC307106BA41}"/>
              </a:ext>
            </a:extLst>
          </p:cNvPr>
          <p:cNvSpPr/>
          <p:nvPr/>
        </p:nvSpPr>
        <p:spPr>
          <a:xfrm>
            <a:off x="762000" y="3101889"/>
            <a:ext cx="609600" cy="61612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x3</a:t>
            </a:r>
            <a:endParaRPr lang="es-PE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F3D473DD-78E0-F8FF-4A31-90B6956608B0}"/>
              </a:ext>
            </a:extLst>
          </p:cNvPr>
          <p:cNvSpPr/>
          <p:nvPr/>
        </p:nvSpPr>
        <p:spPr>
          <a:xfrm>
            <a:off x="7414974" y="2299503"/>
            <a:ext cx="609600" cy="616121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y</a:t>
            </a:r>
            <a:endParaRPr lang="es-PE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C29A4B6-58B4-0846-B285-41700295E20D}"/>
              </a:ext>
            </a:extLst>
          </p:cNvPr>
          <p:cNvSpPr txBox="1"/>
          <p:nvPr/>
        </p:nvSpPr>
        <p:spPr>
          <a:xfrm>
            <a:off x="3786956" y="659078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7030A0"/>
                </a:solidFill>
              </a:rPr>
              <a:t>Capa oculta</a:t>
            </a:r>
            <a:endParaRPr lang="es-PE" dirty="0">
              <a:solidFill>
                <a:srgbClr val="7030A0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EA396C5-216F-0073-7459-E9C040CD77A1}"/>
              </a:ext>
            </a:extLst>
          </p:cNvPr>
          <p:cNvSpPr txBox="1"/>
          <p:nvPr/>
        </p:nvSpPr>
        <p:spPr>
          <a:xfrm>
            <a:off x="228600" y="668629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1"/>
                </a:solidFill>
              </a:rPr>
              <a:t>Capa de entrada</a:t>
            </a:r>
            <a:endParaRPr lang="es-PE" dirty="0">
              <a:solidFill>
                <a:schemeClr val="accent1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94A5735-FEA7-9A1E-F555-7D13EF3F032E}"/>
              </a:ext>
            </a:extLst>
          </p:cNvPr>
          <p:cNvSpPr txBox="1"/>
          <p:nvPr/>
        </p:nvSpPr>
        <p:spPr>
          <a:xfrm>
            <a:off x="6858000" y="672439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00B050"/>
                </a:solidFill>
              </a:rPr>
              <a:t>Capa de salida</a:t>
            </a:r>
            <a:endParaRPr lang="es-PE" dirty="0">
              <a:solidFill>
                <a:srgbClr val="00B050"/>
              </a:solidFill>
            </a:endParaRPr>
          </a:p>
        </p:txBody>
      </p:sp>
      <p:pic>
        <p:nvPicPr>
          <p:cNvPr id="29" name="object 3">
            <a:extLst>
              <a:ext uri="{FF2B5EF4-FFF2-40B4-BE49-F238E27FC236}">
                <a16:creationId xmlns:a16="http://schemas.microsoft.com/office/drawing/2014/main" id="{29AC2B1F-5EDD-130E-61D0-4CFBD5D2C9A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03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163" y="2125167"/>
            <a:ext cx="657161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4800" b="0" spc="-30" dirty="0" err="1"/>
              <a:t>Embeddings</a:t>
            </a:r>
            <a:endParaRPr lang="es-PE" sz="48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F568E-8C2D-5D23-CFC4-3C572DD9C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E15F3E80-47A6-CCBD-2944-E4D7B43BB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9240"/>
            <a:ext cx="5211445" cy="738664"/>
          </a:xfrm>
        </p:spPr>
        <p:txBody>
          <a:bodyPr/>
          <a:lstStyle/>
          <a:p>
            <a:r>
              <a:rPr lang="es-PE" sz="2400" dirty="0" err="1"/>
              <a:t>Embeddings</a:t>
            </a:r>
            <a:br>
              <a:rPr lang="es-PE" sz="2400" b="0" dirty="0"/>
            </a:br>
            <a:endParaRPr lang="es-PE" sz="2400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271DCF0-3183-4EFB-413D-8E78DB292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03394"/>
              </p:ext>
            </p:extLst>
          </p:nvPr>
        </p:nvGraphicFramePr>
        <p:xfrm>
          <a:off x="266700" y="590550"/>
          <a:ext cx="86106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549">
                  <a:extLst>
                    <a:ext uri="{9D8B030D-6E8A-4147-A177-3AD203B41FA5}">
                      <a16:colId xmlns:a16="http://schemas.microsoft.com/office/drawing/2014/main" val="1933589049"/>
                    </a:ext>
                  </a:extLst>
                </a:gridCol>
                <a:gridCol w="767281">
                  <a:extLst>
                    <a:ext uri="{9D8B030D-6E8A-4147-A177-3AD203B41FA5}">
                      <a16:colId xmlns:a16="http://schemas.microsoft.com/office/drawing/2014/main" val="4008536203"/>
                    </a:ext>
                  </a:extLst>
                </a:gridCol>
                <a:gridCol w="1364055">
                  <a:extLst>
                    <a:ext uri="{9D8B030D-6E8A-4147-A177-3AD203B41FA5}">
                      <a16:colId xmlns:a16="http://schemas.microsoft.com/office/drawing/2014/main" val="1385115947"/>
                    </a:ext>
                  </a:extLst>
                </a:gridCol>
                <a:gridCol w="1364055">
                  <a:extLst>
                    <a:ext uri="{9D8B030D-6E8A-4147-A177-3AD203B41FA5}">
                      <a16:colId xmlns:a16="http://schemas.microsoft.com/office/drawing/2014/main" val="3518505871"/>
                    </a:ext>
                  </a:extLst>
                </a:gridCol>
                <a:gridCol w="1216560">
                  <a:extLst>
                    <a:ext uri="{9D8B030D-6E8A-4147-A177-3AD203B41FA5}">
                      <a16:colId xmlns:a16="http://schemas.microsoft.com/office/drawing/2014/main" val="3635020966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95313269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652017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err="1"/>
                        <a:t>id_cliente</a:t>
                      </a:r>
                      <a:endParaRPr lang="es-P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edad</a:t>
                      </a:r>
                      <a:endParaRPr lang="es-P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err="1"/>
                        <a:t>gasto_anual</a:t>
                      </a:r>
                      <a:endParaRPr lang="es-P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frecuencia</a:t>
                      </a:r>
                      <a:endParaRPr lang="es-P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antigüedad</a:t>
                      </a:r>
                      <a:endParaRPr lang="es-P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categoria_fav</a:t>
                      </a:r>
                      <a:endParaRPr lang="es-P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err="1"/>
                        <a:t>mes_fav</a:t>
                      </a:r>
                      <a:endParaRPr lang="es-P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529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1005679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32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2000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20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/>
                        <a:t>remera</a:t>
                      </a:r>
                      <a:endParaRPr lang="es-P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enero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769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1008712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55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5000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25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/>
                        <a:t>camisa</a:t>
                      </a:r>
                      <a:endParaRPr lang="es-P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marzo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337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1009574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34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4500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25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7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/>
                        <a:t>zapatos</a:t>
                      </a:r>
                      <a:endParaRPr lang="es-P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diciembre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850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1003578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19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1200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/>
                        <a:t>gorra</a:t>
                      </a:r>
                      <a:endParaRPr lang="es-P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noviembre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51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1009264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21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1300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11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800" dirty="0"/>
                        <a:t>canotier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enero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11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1006589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26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6000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56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/>
                        <a:t>sandalias</a:t>
                      </a:r>
                      <a:endParaRPr lang="es-P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octubre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000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…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…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…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…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…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800" dirty="0" err="1"/>
                        <a:t>chesterfield</a:t>
                      </a:r>
                      <a:endParaRPr lang="es-P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…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960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…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…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…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…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…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/>
                        <a:t>zapatillas</a:t>
                      </a:r>
                      <a:endParaRPr lang="es-P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…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290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…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…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…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…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…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800" dirty="0"/>
                        <a:t>chistera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…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28756"/>
                  </a:ext>
                </a:extLst>
              </a:tr>
            </a:tbl>
          </a:graphicData>
        </a:graphic>
      </p:graphicFrame>
      <p:pic>
        <p:nvPicPr>
          <p:cNvPr id="4" name="object 3">
            <a:extLst>
              <a:ext uri="{FF2B5EF4-FFF2-40B4-BE49-F238E27FC236}">
                <a16:creationId xmlns:a16="http://schemas.microsoft.com/office/drawing/2014/main" id="{9CEA1052-212B-62EB-F3B7-686B3DA1313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405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084D8-B94D-EF6F-794E-4BB0A4F5B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ED7F27D4-2889-C568-643A-90A9F3FA2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9240"/>
            <a:ext cx="5211445" cy="738664"/>
          </a:xfrm>
        </p:spPr>
        <p:txBody>
          <a:bodyPr/>
          <a:lstStyle/>
          <a:p>
            <a:r>
              <a:rPr lang="es-PE" sz="2400" dirty="0" err="1"/>
              <a:t>Embeddings</a:t>
            </a:r>
            <a:br>
              <a:rPr lang="es-PE" sz="2400" b="0" dirty="0"/>
            </a:br>
            <a:endParaRPr lang="es-PE" sz="2400" dirty="0"/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3546D75D-2A29-6253-1678-972BF344A1A3}"/>
              </a:ext>
            </a:extLst>
          </p:cNvPr>
          <p:cNvCxnSpPr>
            <a:cxnSpLocks/>
          </p:cNvCxnSpPr>
          <p:nvPr/>
        </p:nvCxnSpPr>
        <p:spPr>
          <a:xfrm>
            <a:off x="694946" y="3928712"/>
            <a:ext cx="64008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48BF672-716F-117C-BC7D-D3B6F3C2A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816484"/>
              </p:ext>
            </p:extLst>
          </p:nvPr>
        </p:nvGraphicFramePr>
        <p:xfrm>
          <a:off x="4786250" y="729780"/>
          <a:ext cx="1271595" cy="1918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595">
                  <a:extLst>
                    <a:ext uri="{9D8B030D-6E8A-4147-A177-3AD203B41FA5}">
                      <a16:colId xmlns:a16="http://schemas.microsoft.com/office/drawing/2014/main" val="3554764651"/>
                    </a:ext>
                  </a:extLst>
                </a:gridCol>
              </a:tblGrid>
              <a:tr h="38363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500" dirty="0" err="1"/>
                        <a:t>categoria_fav</a:t>
                      </a:r>
                      <a:endParaRPr lang="es-PE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946074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remera</a:t>
                      </a:r>
                      <a:endParaRPr lang="es-PE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422763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camisas</a:t>
                      </a:r>
                      <a:endParaRPr lang="es-PE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677119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zapatos</a:t>
                      </a:r>
                      <a:endParaRPr lang="es-PE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723439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gorras</a:t>
                      </a:r>
                      <a:endParaRPr lang="es-PE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189315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342D32BD-710D-C20F-9D86-48EC8560A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314453"/>
              </p:ext>
            </p:extLst>
          </p:nvPr>
        </p:nvGraphicFramePr>
        <p:xfrm>
          <a:off x="7315200" y="729780"/>
          <a:ext cx="1371600" cy="1918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554764651"/>
                    </a:ext>
                  </a:extLst>
                </a:gridCol>
              </a:tblGrid>
              <a:tr h="38363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500" dirty="0" err="1"/>
                        <a:t>categoria_fav</a:t>
                      </a:r>
                      <a:endParaRPr lang="es-PE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946074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1</a:t>
                      </a:r>
                      <a:endParaRPr lang="es-PE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422763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2</a:t>
                      </a:r>
                      <a:endParaRPr lang="es-PE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677119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3</a:t>
                      </a:r>
                      <a:endParaRPr lang="es-PE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723439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4</a:t>
                      </a:r>
                      <a:endParaRPr lang="es-PE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189315"/>
                  </a:ext>
                </a:extLst>
              </a:tr>
            </a:tbl>
          </a:graphicData>
        </a:graphic>
      </p:graphicFrame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AEA8DBC0-B78D-23FC-D92B-C496553F80C8}"/>
              </a:ext>
            </a:extLst>
          </p:cNvPr>
          <p:cNvCxnSpPr/>
          <p:nvPr/>
        </p:nvCxnSpPr>
        <p:spPr>
          <a:xfrm>
            <a:off x="6248400" y="1688865"/>
            <a:ext cx="9144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23E7DFA4-AE17-761D-05B5-1A34E11DA409}"/>
              </a:ext>
            </a:extLst>
          </p:cNvPr>
          <p:cNvSpPr txBox="1"/>
          <p:nvPr/>
        </p:nvSpPr>
        <p:spPr>
          <a:xfrm>
            <a:off x="904180" y="1462329"/>
            <a:ext cx="2299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Label</a:t>
            </a:r>
            <a:r>
              <a:rPr lang="es-E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Encoding</a:t>
            </a:r>
            <a:endParaRPr lang="es-PE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C6F1BDE-3CD9-EEFA-68E4-022B1EDC0647}"/>
              </a:ext>
            </a:extLst>
          </p:cNvPr>
          <p:cNvSpPr txBox="1"/>
          <p:nvPr/>
        </p:nvSpPr>
        <p:spPr>
          <a:xfrm>
            <a:off x="964605" y="3503130"/>
            <a:ext cx="8322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remera</a:t>
            </a:r>
            <a:endParaRPr lang="es-PE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3878998-1A24-3B75-250D-2A7F31DF21D6}"/>
              </a:ext>
            </a:extLst>
          </p:cNvPr>
          <p:cNvSpPr txBox="1"/>
          <p:nvPr/>
        </p:nvSpPr>
        <p:spPr>
          <a:xfrm>
            <a:off x="2348885" y="3492735"/>
            <a:ext cx="8515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camisa</a:t>
            </a:r>
            <a:endParaRPr lang="es-PE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00795EA-5EEA-FB83-5C49-18028CEAA80A}"/>
              </a:ext>
            </a:extLst>
          </p:cNvPr>
          <p:cNvSpPr txBox="1"/>
          <p:nvPr/>
        </p:nvSpPr>
        <p:spPr>
          <a:xfrm>
            <a:off x="3869011" y="3492735"/>
            <a:ext cx="917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zapatos</a:t>
            </a:r>
            <a:endParaRPr lang="es-PE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30FC129-9C13-5F17-94E4-239E2624D5DB}"/>
              </a:ext>
            </a:extLst>
          </p:cNvPr>
          <p:cNvSpPr txBox="1"/>
          <p:nvPr/>
        </p:nvSpPr>
        <p:spPr>
          <a:xfrm>
            <a:off x="7065301" y="3733866"/>
            <a:ext cx="1507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/>
              <a:t>categoria_fav</a:t>
            </a:r>
            <a:endParaRPr lang="es-PE" sz="1600" b="1" dirty="0"/>
          </a:p>
          <a:p>
            <a:endParaRPr lang="es-PE"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EBEC760-3E96-6A82-0D45-DAA42AE92E3C}"/>
              </a:ext>
            </a:extLst>
          </p:cNvPr>
          <p:cNvSpPr txBox="1"/>
          <p:nvPr/>
        </p:nvSpPr>
        <p:spPr>
          <a:xfrm>
            <a:off x="1230704" y="4043442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endParaRPr lang="es-PE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3F8888A-AD64-8770-3838-A8D3E89BFF77}"/>
              </a:ext>
            </a:extLst>
          </p:cNvPr>
          <p:cNvSpPr txBox="1"/>
          <p:nvPr/>
        </p:nvSpPr>
        <p:spPr>
          <a:xfrm>
            <a:off x="2627580" y="4043442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endParaRPr lang="es-PE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0CD0ABF-8058-BBFE-7DF8-98E5A6D825B4}"/>
              </a:ext>
            </a:extLst>
          </p:cNvPr>
          <p:cNvSpPr txBox="1"/>
          <p:nvPr/>
        </p:nvSpPr>
        <p:spPr>
          <a:xfrm>
            <a:off x="4177590" y="4043442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endParaRPr lang="es-PE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D189DC9-E2CB-0716-BEF7-72F26A1E5CAF}"/>
              </a:ext>
            </a:extLst>
          </p:cNvPr>
          <p:cNvSpPr txBox="1"/>
          <p:nvPr/>
        </p:nvSpPr>
        <p:spPr>
          <a:xfrm>
            <a:off x="5520820" y="4043442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  <a:endParaRPr lang="es-PE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89D761E-58C9-E419-197E-457BCF69E07F}"/>
              </a:ext>
            </a:extLst>
          </p:cNvPr>
          <p:cNvSpPr txBox="1"/>
          <p:nvPr/>
        </p:nvSpPr>
        <p:spPr>
          <a:xfrm>
            <a:off x="5328200" y="3492735"/>
            <a:ext cx="6671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gorra</a:t>
            </a:r>
            <a:endParaRPr lang="es-PE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0" name="object 3">
            <a:extLst>
              <a:ext uri="{FF2B5EF4-FFF2-40B4-BE49-F238E27FC236}">
                <a16:creationId xmlns:a16="http://schemas.microsoft.com/office/drawing/2014/main" id="{28F016E2-D1CC-D7EC-A30F-E8FD47BC40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05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D876A-FC93-9186-A945-B85A0B8D9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DBAB3D6-5888-5C5E-D931-A5728A81B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9240"/>
            <a:ext cx="5211445" cy="738664"/>
          </a:xfrm>
        </p:spPr>
        <p:txBody>
          <a:bodyPr/>
          <a:lstStyle/>
          <a:p>
            <a:r>
              <a:rPr lang="es-PE" sz="2400" dirty="0" err="1"/>
              <a:t>Embeddings</a:t>
            </a:r>
            <a:br>
              <a:rPr lang="es-PE" sz="2400" b="0" dirty="0"/>
            </a:br>
            <a:endParaRPr lang="es-PE" sz="240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D949FC4D-AB7E-3C42-16D4-0BF7107877B0}"/>
              </a:ext>
            </a:extLst>
          </p:cNvPr>
          <p:cNvGrpSpPr/>
          <p:nvPr/>
        </p:nvGrpSpPr>
        <p:grpSpPr>
          <a:xfrm>
            <a:off x="609600" y="1339765"/>
            <a:ext cx="2971800" cy="2895600"/>
            <a:chOff x="914400" y="1200150"/>
            <a:chExt cx="2971800" cy="2895600"/>
          </a:xfrm>
        </p:grpSpPr>
        <p:cxnSp>
          <p:nvCxnSpPr>
            <p:cNvPr id="4" name="Conector recto de flecha 3">
              <a:extLst>
                <a:ext uri="{FF2B5EF4-FFF2-40B4-BE49-F238E27FC236}">
                  <a16:creationId xmlns:a16="http://schemas.microsoft.com/office/drawing/2014/main" id="{1919AB91-A2E1-4DFD-3D99-B2D18A715A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1200" y="1200150"/>
              <a:ext cx="0" cy="176200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Conector recto de flecha 4">
              <a:extLst>
                <a:ext uri="{FF2B5EF4-FFF2-40B4-BE49-F238E27FC236}">
                  <a16:creationId xmlns:a16="http://schemas.microsoft.com/office/drawing/2014/main" id="{211745F7-ACDE-67A0-427D-834BF924A586}"/>
                </a:ext>
              </a:extLst>
            </p:cNvPr>
            <p:cNvCxnSpPr>
              <a:cxnSpLocks/>
            </p:cNvCxnSpPr>
            <p:nvPr/>
          </p:nvCxnSpPr>
          <p:spPr>
            <a:xfrm>
              <a:off x="1981200" y="2952750"/>
              <a:ext cx="19050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Conector recto de flecha 8">
              <a:extLst>
                <a:ext uri="{FF2B5EF4-FFF2-40B4-BE49-F238E27FC236}">
                  <a16:creationId xmlns:a16="http://schemas.microsoft.com/office/drawing/2014/main" id="{A3C804EA-8FEC-E6F2-148B-934AD0B2CF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400" y="2952750"/>
              <a:ext cx="1066800" cy="11430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2506CC0-8DF1-BBFC-B470-47872A96157E}"/>
              </a:ext>
            </a:extLst>
          </p:cNvPr>
          <p:cNvSpPr txBox="1"/>
          <p:nvPr/>
        </p:nvSpPr>
        <p:spPr>
          <a:xfrm>
            <a:off x="1590939" y="3122026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</a:t>
            </a:r>
            <a:endParaRPr lang="es-PE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6FA5853-8DD8-5AA4-DE77-C3E1B8380D22}"/>
              </a:ext>
            </a:extLst>
          </p:cNvPr>
          <p:cNvSpPr txBox="1"/>
          <p:nvPr/>
        </p:nvSpPr>
        <p:spPr>
          <a:xfrm>
            <a:off x="3200400" y="3092365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endParaRPr lang="es-PE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9B38467-ABAF-E057-25C2-47C6EC84566E}"/>
              </a:ext>
            </a:extLst>
          </p:cNvPr>
          <p:cNvSpPr txBox="1"/>
          <p:nvPr/>
        </p:nvSpPr>
        <p:spPr>
          <a:xfrm>
            <a:off x="533400" y="3761453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endParaRPr lang="es-PE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8571568-668B-941D-C643-02FFE3FBFD43}"/>
              </a:ext>
            </a:extLst>
          </p:cNvPr>
          <p:cNvSpPr txBox="1"/>
          <p:nvPr/>
        </p:nvSpPr>
        <p:spPr>
          <a:xfrm>
            <a:off x="1676400" y="1401134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endParaRPr lang="es-PE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5CFCEC12-3F35-0E82-0843-D30182E3890F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976482" y="1570411"/>
            <a:ext cx="1373959" cy="144575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FA4B3036-73E9-3C93-B359-8C6359C1C3E3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683441" y="1581150"/>
            <a:ext cx="907497" cy="2180303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274E661D-3BEA-6522-AE84-C8C108493D69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833482" y="3261642"/>
            <a:ext cx="2366918" cy="83836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A4CB85D-3BCF-0CB8-22D3-D11D2DCC3F26}"/>
              </a:ext>
            </a:extLst>
          </p:cNvPr>
          <p:cNvSpPr txBox="1"/>
          <p:nvPr/>
        </p:nvSpPr>
        <p:spPr>
          <a:xfrm>
            <a:off x="3521818" y="2923088"/>
            <a:ext cx="8515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camisa</a:t>
            </a:r>
            <a:endParaRPr lang="es-PE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EAC589B-D391-99B3-07C4-011C84890D7D}"/>
              </a:ext>
            </a:extLst>
          </p:cNvPr>
          <p:cNvSpPr txBox="1"/>
          <p:nvPr/>
        </p:nvSpPr>
        <p:spPr>
          <a:xfrm>
            <a:off x="1295400" y="1047750"/>
            <a:ext cx="8322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remera</a:t>
            </a:r>
            <a:endParaRPr lang="es-PE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43EDA2B-92C0-3BC3-5768-987ED98AEE85}"/>
              </a:ext>
            </a:extLst>
          </p:cNvPr>
          <p:cNvSpPr txBox="1"/>
          <p:nvPr/>
        </p:nvSpPr>
        <p:spPr>
          <a:xfrm>
            <a:off x="152400" y="4176207"/>
            <a:ext cx="917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zapatos</a:t>
            </a:r>
            <a:endParaRPr lang="es-PE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38" name="Tabla 37">
            <a:extLst>
              <a:ext uri="{FF2B5EF4-FFF2-40B4-BE49-F238E27FC236}">
                <a16:creationId xmlns:a16="http://schemas.microsoft.com/office/drawing/2014/main" id="{8EAA1281-EBB5-26E3-B259-C2A9774B9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886397"/>
              </p:ext>
            </p:extLst>
          </p:nvPr>
        </p:nvGraphicFramePr>
        <p:xfrm>
          <a:off x="3657553" y="774072"/>
          <a:ext cx="1257245" cy="1534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245">
                  <a:extLst>
                    <a:ext uri="{9D8B030D-6E8A-4147-A177-3AD203B41FA5}">
                      <a16:colId xmlns:a16="http://schemas.microsoft.com/office/drawing/2014/main" val="3554764651"/>
                    </a:ext>
                  </a:extLst>
                </a:gridCol>
              </a:tblGrid>
              <a:tr h="38363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categoria_fav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946074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remera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422763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camisa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677119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zapatos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723439"/>
                  </a:ext>
                </a:extLst>
              </a:tr>
            </a:tbl>
          </a:graphicData>
        </a:graphic>
      </p:graphicFrame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FB3FC843-A9C7-2EE7-C6CB-ECC17C1395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2197"/>
              </p:ext>
            </p:extLst>
          </p:nvPr>
        </p:nvGraphicFramePr>
        <p:xfrm>
          <a:off x="6087202" y="771136"/>
          <a:ext cx="2590803" cy="1534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601">
                  <a:extLst>
                    <a:ext uri="{9D8B030D-6E8A-4147-A177-3AD203B41FA5}">
                      <a16:colId xmlns:a16="http://schemas.microsoft.com/office/drawing/2014/main" val="3554764651"/>
                    </a:ext>
                  </a:extLst>
                </a:gridCol>
                <a:gridCol w="863601">
                  <a:extLst>
                    <a:ext uri="{9D8B030D-6E8A-4147-A177-3AD203B41FA5}">
                      <a16:colId xmlns:a16="http://schemas.microsoft.com/office/drawing/2014/main" val="2391460825"/>
                    </a:ext>
                  </a:extLst>
                </a:gridCol>
                <a:gridCol w="863601">
                  <a:extLst>
                    <a:ext uri="{9D8B030D-6E8A-4147-A177-3AD203B41FA5}">
                      <a16:colId xmlns:a16="http://schemas.microsoft.com/office/drawing/2014/main" val="67318652"/>
                    </a:ext>
                  </a:extLst>
                </a:gridCol>
              </a:tblGrid>
              <a:tr h="38363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polos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camisas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zapatos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946074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422763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677119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723439"/>
                  </a:ext>
                </a:extLst>
              </a:tr>
            </a:tbl>
          </a:graphicData>
        </a:graphic>
      </p:graphicFrame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51C108DE-B7DB-74A6-6EC2-0FAC18BE6FBF}"/>
              </a:ext>
            </a:extLst>
          </p:cNvPr>
          <p:cNvCxnSpPr/>
          <p:nvPr/>
        </p:nvCxnSpPr>
        <p:spPr>
          <a:xfrm>
            <a:off x="5029200" y="1581150"/>
            <a:ext cx="9144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D3AA337-E7EE-143D-E13D-2754BE652112}"/>
              </a:ext>
            </a:extLst>
          </p:cNvPr>
          <p:cNvSpPr txBox="1"/>
          <p:nvPr/>
        </p:nvSpPr>
        <p:spPr>
          <a:xfrm>
            <a:off x="5181600" y="3331517"/>
            <a:ext cx="2669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One-hot</a:t>
            </a:r>
            <a:r>
              <a:rPr lang="es-E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Encoding</a:t>
            </a:r>
            <a:endParaRPr lang="es-PE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9" name="object 3">
            <a:extLst>
              <a:ext uri="{FF2B5EF4-FFF2-40B4-BE49-F238E27FC236}">
                <a16:creationId xmlns:a16="http://schemas.microsoft.com/office/drawing/2014/main" id="{9A7ABC59-989F-5BD4-1A2E-A1C5B0C779A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75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99520-0598-4CF4-E370-459140E58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83B16D6-094E-4C75-0C22-B0CB50DF2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9240"/>
            <a:ext cx="5211445" cy="738664"/>
          </a:xfrm>
        </p:spPr>
        <p:txBody>
          <a:bodyPr/>
          <a:lstStyle/>
          <a:p>
            <a:r>
              <a:rPr lang="es-PE" sz="2400" dirty="0" err="1"/>
              <a:t>Embeddings</a:t>
            </a:r>
            <a:br>
              <a:rPr lang="es-PE" sz="2400" b="0" dirty="0"/>
            </a:br>
            <a:endParaRPr lang="es-PE" sz="2400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46009A5-EF9D-EF62-1B4A-255CBD1AC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662366"/>
              </p:ext>
            </p:extLst>
          </p:nvPr>
        </p:nvGraphicFramePr>
        <p:xfrm>
          <a:off x="2590800" y="867824"/>
          <a:ext cx="6362645" cy="3853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371">
                  <a:extLst>
                    <a:ext uri="{9D8B030D-6E8A-4147-A177-3AD203B41FA5}">
                      <a16:colId xmlns:a16="http://schemas.microsoft.com/office/drawing/2014/main" val="3554764651"/>
                    </a:ext>
                  </a:extLst>
                </a:gridCol>
                <a:gridCol w="694113">
                  <a:extLst>
                    <a:ext uri="{9D8B030D-6E8A-4147-A177-3AD203B41FA5}">
                      <a16:colId xmlns:a16="http://schemas.microsoft.com/office/drawing/2014/main" val="2391460825"/>
                    </a:ext>
                  </a:extLst>
                </a:gridCol>
                <a:gridCol w="694113">
                  <a:extLst>
                    <a:ext uri="{9D8B030D-6E8A-4147-A177-3AD203B41FA5}">
                      <a16:colId xmlns:a16="http://schemas.microsoft.com/office/drawing/2014/main" val="67318652"/>
                    </a:ext>
                  </a:extLst>
                </a:gridCol>
                <a:gridCol w="539865">
                  <a:extLst>
                    <a:ext uri="{9D8B030D-6E8A-4147-A177-3AD203B41FA5}">
                      <a16:colId xmlns:a16="http://schemas.microsoft.com/office/drawing/2014/main" val="3455878845"/>
                    </a:ext>
                  </a:extLst>
                </a:gridCol>
                <a:gridCol w="694113">
                  <a:extLst>
                    <a:ext uri="{9D8B030D-6E8A-4147-A177-3AD203B41FA5}">
                      <a16:colId xmlns:a16="http://schemas.microsoft.com/office/drawing/2014/main" val="2681932407"/>
                    </a:ext>
                  </a:extLst>
                </a:gridCol>
                <a:gridCol w="771236">
                  <a:extLst>
                    <a:ext uri="{9D8B030D-6E8A-4147-A177-3AD203B41FA5}">
                      <a16:colId xmlns:a16="http://schemas.microsoft.com/office/drawing/2014/main" val="2000375532"/>
                    </a:ext>
                  </a:extLst>
                </a:gridCol>
                <a:gridCol w="943034">
                  <a:extLst>
                    <a:ext uri="{9D8B030D-6E8A-4147-A177-3AD203B41FA5}">
                      <a16:colId xmlns:a16="http://schemas.microsoft.com/office/drawing/2014/main" val="346613061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662968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364976978"/>
                    </a:ext>
                  </a:extLst>
                </a:gridCol>
              </a:tblGrid>
              <a:tr h="56893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50" dirty="0"/>
                        <a:t>polos</a:t>
                      </a:r>
                      <a:endParaRPr lang="es-PE" sz="1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50" dirty="0"/>
                        <a:t>camisas</a:t>
                      </a:r>
                      <a:endParaRPr lang="es-PE" sz="1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50" dirty="0"/>
                        <a:t>zapatos</a:t>
                      </a:r>
                      <a:endParaRPr lang="es-PE" sz="1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50" dirty="0"/>
                        <a:t>gorra</a:t>
                      </a:r>
                      <a:endParaRPr lang="es-PE" sz="1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50" dirty="0"/>
                        <a:t>canotier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50" dirty="0"/>
                        <a:t>sandalias</a:t>
                      </a:r>
                      <a:endParaRPr lang="es-PE" sz="1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50" dirty="0" err="1"/>
                        <a:t>chesterfield</a:t>
                      </a:r>
                      <a:endParaRPr lang="es-PE" sz="1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50" dirty="0"/>
                        <a:t>zapatillas</a:t>
                      </a:r>
                      <a:endParaRPr lang="es-PE" sz="1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50" dirty="0"/>
                        <a:t>chistera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946074"/>
                  </a:ext>
                </a:extLst>
              </a:tr>
              <a:tr h="364995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422763"/>
                  </a:ext>
                </a:extLst>
              </a:tr>
              <a:tr h="364995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677119"/>
                  </a:ext>
                </a:extLst>
              </a:tr>
              <a:tr h="364995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723439"/>
                  </a:ext>
                </a:extLst>
              </a:tr>
              <a:tr h="364995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584102"/>
                  </a:ext>
                </a:extLst>
              </a:tr>
              <a:tr h="364995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931021"/>
                  </a:ext>
                </a:extLst>
              </a:tr>
              <a:tr h="364995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6894253"/>
                  </a:ext>
                </a:extLst>
              </a:tr>
              <a:tr h="364995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9956351"/>
                  </a:ext>
                </a:extLst>
              </a:tr>
              <a:tr h="364995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465328"/>
                  </a:ext>
                </a:extLst>
              </a:tr>
              <a:tr h="364995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4594301"/>
                  </a:ext>
                </a:extLst>
              </a:tr>
            </a:tbl>
          </a:graphicData>
        </a:graphic>
      </p:graphicFrame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BD121DB1-49CA-2541-4328-4BDD9579B942}"/>
              </a:ext>
            </a:extLst>
          </p:cNvPr>
          <p:cNvCxnSpPr/>
          <p:nvPr/>
        </p:nvCxnSpPr>
        <p:spPr>
          <a:xfrm>
            <a:off x="1600200" y="2722378"/>
            <a:ext cx="9144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539FAF72-A0EE-7002-C4B7-635EA9C07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804301"/>
              </p:ext>
            </p:extLst>
          </p:nvPr>
        </p:nvGraphicFramePr>
        <p:xfrm>
          <a:off x="228600" y="885373"/>
          <a:ext cx="1257245" cy="3836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245">
                  <a:extLst>
                    <a:ext uri="{9D8B030D-6E8A-4147-A177-3AD203B41FA5}">
                      <a16:colId xmlns:a16="http://schemas.microsoft.com/office/drawing/2014/main" val="3554764651"/>
                    </a:ext>
                  </a:extLst>
                </a:gridCol>
              </a:tblGrid>
              <a:tr h="38363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categoria_fav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946074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polo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422763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camisa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677119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zapatos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723439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gorra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189315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/>
                        <a:t>canotier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963957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sandalias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240770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 err="1"/>
                        <a:t>chesterfield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034758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zapatillas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398061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/>
                        <a:t>chistera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505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003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9744F-2892-AD80-36D6-A58DF30A0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6E71C37-B9EE-8B1D-1610-08E53481E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9240"/>
            <a:ext cx="5211445" cy="738664"/>
          </a:xfrm>
        </p:spPr>
        <p:txBody>
          <a:bodyPr/>
          <a:lstStyle/>
          <a:p>
            <a:r>
              <a:rPr lang="es-PE" sz="2400" dirty="0" err="1"/>
              <a:t>Embeddings</a:t>
            </a:r>
            <a:br>
              <a:rPr lang="es-PE" sz="2400" b="0" dirty="0"/>
            </a:br>
            <a:endParaRPr lang="es-PE" sz="24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9606B1A-D536-F9F5-9BE2-95F4A5753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992176"/>
              </p:ext>
            </p:extLst>
          </p:nvPr>
        </p:nvGraphicFramePr>
        <p:xfrm>
          <a:off x="1585278" y="787904"/>
          <a:ext cx="1257245" cy="3836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245">
                  <a:extLst>
                    <a:ext uri="{9D8B030D-6E8A-4147-A177-3AD203B41FA5}">
                      <a16:colId xmlns:a16="http://schemas.microsoft.com/office/drawing/2014/main" val="3554764651"/>
                    </a:ext>
                  </a:extLst>
                </a:gridCol>
              </a:tblGrid>
              <a:tr h="38363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categoria_fav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946074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polo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422763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camisa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677119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zapatos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723439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gorra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189315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/>
                        <a:t>canotier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963957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sandalias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240770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 err="1"/>
                        <a:t>chesterfield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034758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zapatillas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398061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/>
                        <a:t>chistera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505192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05CA811-717F-01B0-5C83-E985A590D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316904"/>
              </p:ext>
            </p:extLst>
          </p:nvPr>
        </p:nvGraphicFramePr>
        <p:xfrm>
          <a:off x="4572000" y="787904"/>
          <a:ext cx="3149944" cy="3836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972">
                  <a:extLst>
                    <a:ext uri="{9D8B030D-6E8A-4147-A177-3AD203B41FA5}">
                      <a16:colId xmlns:a16="http://schemas.microsoft.com/office/drawing/2014/main" val="3554764651"/>
                    </a:ext>
                  </a:extLst>
                </a:gridCol>
                <a:gridCol w="1574972">
                  <a:extLst>
                    <a:ext uri="{9D8B030D-6E8A-4147-A177-3AD203B41FA5}">
                      <a16:colId xmlns:a16="http://schemas.microsoft.com/office/drawing/2014/main" val="3595412371"/>
                    </a:ext>
                  </a:extLst>
                </a:gridCol>
              </a:tblGrid>
              <a:tr h="38363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emb_dim_1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emb_dim_2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946074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0.41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0.79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422763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1.56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2.93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677119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-0.75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0.86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723439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0.88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-0.17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189315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3.56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2.93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963957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0.56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2.93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240770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-2.56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0.74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034758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-0.81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4.53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398061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1.56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-1.99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505192"/>
                  </a:ext>
                </a:extLst>
              </a:tr>
            </a:tbl>
          </a:graphicData>
        </a:graphic>
      </p:graphicFrame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BA8960B8-D41C-123E-15D4-1ED34F7050C9}"/>
              </a:ext>
            </a:extLst>
          </p:cNvPr>
          <p:cNvCxnSpPr/>
          <p:nvPr/>
        </p:nvCxnSpPr>
        <p:spPr>
          <a:xfrm>
            <a:off x="3276600" y="2724150"/>
            <a:ext cx="9144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object 3">
            <a:extLst>
              <a:ext uri="{FF2B5EF4-FFF2-40B4-BE49-F238E27FC236}">
                <a16:creationId xmlns:a16="http://schemas.microsoft.com/office/drawing/2014/main" id="{8D41DCE7-FA5A-2E17-E000-5980D9863B9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345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14099-615E-DD28-8CD1-A43016DE0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66BFC1D-872F-AFE7-E2D1-26DC4DF0E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9240"/>
            <a:ext cx="5211445" cy="738664"/>
          </a:xfrm>
        </p:spPr>
        <p:txBody>
          <a:bodyPr/>
          <a:lstStyle/>
          <a:p>
            <a:r>
              <a:rPr lang="es-PE" sz="2400" dirty="0" err="1"/>
              <a:t>Embeddings</a:t>
            </a:r>
            <a:br>
              <a:rPr lang="es-PE" sz="2400" b="0" dirty="0"/>
            </a:br>
            <a:endParaRPr lang="es-PE" sz="24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91330B6-DD7C-E4DF-24B8-6F7B1F126A9E}"/>
              </a:ext>
            </a:extLst>
          </p:cNvPr>
          <p:cNvGraphicFramePr>
            <a:graphicFrameLocks noGrp="1"/>
          </p:cNvGraphicFramePr>
          <p:nvPr/>
        </p:nvGraphicFramePr>
        <p:xfrm>
          <a:off x="1585278" y="787904"/>
          <a:ext cx="1257245" cy="3836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245">
                  <a:extLst>
                    <a:ext uri="{9D8B030D-6E8A-4147-A177-3AD203B41FA5}">
                      <a16:colId xmlns:a16="http://schemas.microsoft.com/office/drawing/2014/main" val="3554764651"/>
                    </a:ext>
                  </a:extLst>
                </a:gridCol>
              </a:tblGrid>
              <a:tr h="38363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categoria_fav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946074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polo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422763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camisa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677119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zapatos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723439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gorra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189315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/>
                        <a:t>canotier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963957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sandalias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240770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 err="1"/>
                        <a:t>chesterfield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034758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zapatillas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398061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/>
                        <a:t>chistera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505192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F3FB4223-E392-422D-F7A0-2133CDECC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818040"/>
              </p:ext>
            </p:extLst>
          </p:nvPr>
        </p:nvGraphicFramePr>
        <p:xfrm>
          <a:off x="4572000" y="787904"/>
          <a:ext cx="3149944" cy="3836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972">
                  <a:extLst>
                    <a:ext uri="{9D8B030D-6E8A-4147-A177-3AD203B41FA5}">
                      <a16:colId xmlns:a16="http://schemas.microsoft.com/office/drawing/2014/main" val="3554764651"/>
                    </a:ext>
                  </a:extLst>
                </a:gridCol>
                <a:gridCol w="1574972">
                  <a:extLst>
                    <a:ext uri="{9D8B030D-6E8A-4147-A177-3AD203B41FA5}">
                      <a16:colId xmlns:a16="http://schemas.microsoft.com/office/drawing/2014/main" val="3595412371"/>
                    </a:ext>
                  </a:extLst>
                </a:gridCol>
              </a:tblGrid>
              <a:tr h="38363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emb_dim_1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emb_dim_2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946074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0.19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0.69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422763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0.57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0.65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677119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0.89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0.14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723439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0.52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0.92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189315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0.13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0.92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963957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0.09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0.11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240770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0.91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0.68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034758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0.55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0.12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398061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0.97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0.88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505192"/>
                  </a:ext>
                </a:extLst>
              </a:tr>
            </a:tbl>
          </a:graphicData>
        </a:graphic>
      </p:graphicFrame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A9871654-844E-DC1A-D0B5-8A55C4AF96FA}"/>
              </a:ext>
            </a:extLst>
          </p:cNvPr>
          <p:cNvCxnSpPr/>
          <p:nvPr/>
        </p:nvCxnSpPr>
        <p:spPr>
          <a:xfrm>
            <a:off x="3276600" y="2724150"/>
            <a:ext cx="9144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object 3">
            <a:extLst>
              <a:ext uri="{FF2B5EF4-FFF2-40B4-BE49-F238E27FC236}">
                <a16:creationId xmlns:a16="http://schemas.microsoft.com/office/drawing/2014/main" id="{14C07741-A52D-E974-F33A-6A83A7B74D4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384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5A638-2531-EC0B-B53A-7074CB53C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AF56057-69A7-E599-5D97-2B4BE3991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9240"/>
            <a:ext cx="5211445" cy="738664"/>
          </a:xfrm>
        </p:spPr>
        <p:txBody>
          <a:bodyPr/>
          <a:lstStyle/>
          <a:p>
            <a:r>
              <a:rPr lang="es-PE" sz="2400" dirty="0" err="1"/>
              <a:t>Embeddings</a:t>
            </a:r>
            <a:br>
              <a:rPr lang="es-PE" sz="2400" b="0" dirty="0"/>
            </a:br>
            <a:endParaRPr lang="es-PE" sz="2400" dirty="0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13DDBB53-B037-D4E0-6D85-E5DB3993D3A2}"/>
              </a:ext>
            </a:extLst>
          </p:cNvPr>
          <p:cNvGrpSpPr/>
          <p:nvPr/>
        </p:nvGrpSpPr>
        <p:grpSpPr>
          <a:xfrm>
            <a:off x="58834" y="1382647"/>
            <a:ext cx="6272051" cy="3426862"/>
            <a:chOff x="252416" y="1118151"/>
            <a:chExt cx="6272051" cy="3426862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ABF0A281-7AAF-AA73-F415-88BE777896D1}"/>
                </a:ext>
              </a:extLst>
            </p:cNvPr>
            <p:cNvGrpSpPr/>
            <p:nvPr/>
          </p:nvGrpSpPr>
          <p:grpSpPr>
            <a:xfrm>
              <a:off x="685800" y="1504950"/>
              <a:ext cx="4495800" cy="2639769"/>
              <a:chOff x="1981200" y="1200150"/>
              <a:chExt cx="1905000" cy="1762008"/>
            </a:xfrm>
          </p:grpSpPr>
          <p:cxnSp>
            <p:nvCxnSpPr>
              <p:cNvPr id="3" name="Conector recto de flecha 2">
                <a:extLst>
                  <a:ext uri="{FF2B5EF4-FFF2-40B4-BE49-F238E27FC236}">
                    <a16:creationId xmlns:a16="http://schemas.microsoft.com/office/drawing/2014/main" id="{578A8028-C686-ACD5-B1C2-1F53B07ECA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81200" y="1200150"/>
                <a:ext cx="0" cy="176200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" name="Conector recto de flecha 3">
                <a:extLst>
                  <a:ext uri="{FF2B5EF4-FFF2-40B4-BE49-F238E27FC236}">
                    <a16:creationId xmlns:a16="http://schemas.microsoft.com/office/drawing/2014/main" id="{0DF5E1D0-40EB-0BE7-C6C9-7AD3E4FA0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81200" y="2952750"/>
                <a:ext cx="1905000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1026" name="Picture 2" descr="660+ Chistera Ilustraciones de Stock, gráficos vectoriales ...">
              <a:extLst>
                <a:ext uri="{FF2B5EF4-FFF2-40B4-BE49-F238E27FC236}">
                  <a16:creationId xmlns:a16="http://schemas.microsoft.com/office/drawing/2014/main" id="{073022A4-31C8-24E6-3700-8F17EC428E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0749" y="1559005"/>
              <a:ext cx="542042" cy="4879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8BE8655D-E3FE-9527-94EB-4049FE06D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6296" t="3653" r="21852"/>
            <a:stretch>
              <a:fillRect/>
            </a:stretch>
          </p:blipFill>
          <p:spPr>
            <a:xfrm>
              <a:off x="4127265" y="2168605"/>
              <a:ext cx="762000" cy="1415889"/>
            </a:xfrm>
            <a:prstGeom prst="rect">
              <a:avLst/>
            </a:prstGeom>
          </p:spPr>
        </p:pic>
        <p:pic>
          <p:nvPicPr>
            <p:cNvPr id="9" name="Imagen 8" descr="Un par de zapatos deportivos&#10;&#10;El contenido generado por IA puede ser incorrecto.">
              <a:extLst>
                <a:ext uri="{FF2B5EF4-FFF2-40B4-BE49-F238E27FC236}">
                  <a16:creationId xmlns:a16="http://schemas.microsoft.com/office/drawing/2014/main" id="{8C798ADE-13DA-98E0-C4B1-35B6B67AC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562" b="18772"/>
            <a:stretch>
              <a:fillRect/>
            </a:stretch>
          </p:blipFill>
          <p:spPr>
            <a:xfrm>
              <a:off x="4127265" y="3589019"/>
              <a:ext cx="846841" cy="479865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193C9279-3F27-E97C-CB8D-F586DA6B0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4512" y="1572308"/>
              <a:ext cx="755448" cy="503992"/>
            </a:xfrm>
            <a:prstGeom prst="rect">
              <a:avLst/>
            </a:prstGeom>
          </p:spPr>
        </p:pic>
        <p:pic>
          <p:nvPicPr>
            <p:cNvPr id="13" name="Imagen 12" descr="Zapatos deportivos negros&#10;&#10;El contenido generado por IA puede ser incorrecto.">
              <a:extLst>
                <a:ext uri="{FF2B5EF4-FFF2-40B4-BE49-F238E27FC236}">
                  <a16:creationId xmlns:a16="http://schemas.microsoft.com/office/drawing/2014/main" id="{D1D43BAF-AC4F-A5E5-D417-56A271C7C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829" b="24038"/>
            <a:stretch>
              <a:fillRect/>
            </a:stretch>
          </p:blipFill>
          <p:spPr>
            <a:xfrm>
              <a:off x="2452982" y="3621227"/>
              <a:ext cx="807522" cy="412907"/>
            </a:xfrm>
            <a:prstGeom prst="rect">
              <a:avLst/>
            </a:prstGeom>
          </p:spPr>
        </p:pic>
        <p:pic>
          <p:nvPicPr>
            <p:cNvPr id="15" name="Imagen 14" descr="Un pastel con un sombrero&#10;&#10;El contenido generado por IA puede ser incorrecto.">
              <a:extLst>
                <a:ext uri="{FF2B5EF4-FFF2-40B4-BE49-F238E27FC236}">
                  <a16:creationId xmlns:a16="http://schemas.microsoft.com/office/drawing/2014/main" id="{1B238BDF-EC35-89E4-9DED-DE3B0C904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866" y="1578759"/>
              <a:ext cx="819468" cy="490365"/>
            </a:xfrm>
            <a:prstGeom prst="rect">
              <a:avLst/>
            </a:prstGeom>
          </p:spPr>
        </p:pic>
        <p:pic>
          <p:nvPicPr>
            <p:cNvPr id="17" name="Imagen 16" descr="Logotipo&#10;&#10;El contenido generado por IA puede ser incorrecto.">
              <a:extLst>
                <a:ext uri="{FF2B5EF4-FFF2-40B4-BE49-F238E27FC236}">
                  <a16:creationId xmlns:a16="http://schemas.microsoft.com/office/drawing/2014/main" id="{2E4DEE16-5F6A-C350-8D1A-87F4D6E345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903" t="29906" r="17719" b="21496"/>
            <a:stretch>
              <a:fillRect/>
            </a:stretch>
          </p:blipFill>
          <p:spPr>
            <a:xfrm>
              <a:off x="990600" y="3579936"/>
              <a:ext cx="762000" cy="552974"/>
            </a:xfrm>
            <a:prstGeom prst="rect">
              <a:avLst/>
            </a:prstGeom>
          </p:spPr>
        </p:pic>
        <p:pic>
          <p:nvPicPr>
            <p:cNvPr id="1028" name="Picture 4" descr="Discover 17 Billabong and Surf Shirt Ideas | shirt design inspiration, surf  outfit, clothes illustration and more">
              <a:extLst>
                <a:ext uri="{FF2B5EF4-FFF2-40B4-BE49-F238E27FC236}">
                  <a16:creationId xmlns:a16="http://schemas.microsoft.com/office/drawing/2014/main" id="{418AD391-6D5B-8B5D-512B-0CBFAF086F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9733" y="2261968"/>
              <a:ext cx="1060186" cy="11430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Imagen 20" descr="Un hombre con un traje de color azul&#10;&#10;El contenido generado por IA puede ser incorrecto.">
              <a:extLst>
                <a:ext uri="{FF2B5EF4-FFF2-40B4-BE49-F238E27FC236}">
                  <a16:creationId xmlns:a16="http://schemas.microsoft.com/office/drawing/2014/main" id="{17C0E773-B6FE-5B94-3D3E-18D1A6FB3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714"/>
            <a:stretch>
              <a:fillRect/>
            </a:stretch>
          </p:blipFill>
          <p:spPr>
            <a:xfrm>
              <a:off x="2380495" y="2168605"/>
              <a:ext cx="1106411" cy="1268012"/>
            </a:xfrm>
            <a:prstGeom prst="rect">
              <a:avLst/>
            </a:prstGeom>
          </p:spPr>
        </p:pic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DCB0B2EE-396D-3795-8F14-C5CFF7D44859}"/>
                </a:ext>
              </a:extLst>
            </p:cNvPr>
            <p:cNvSpPr txBox="1"/>
            <p:nvPr/>
          </p:nvSpPr>
          <p:spPr>
            <a:xfrm>
              <a:off x="536560" y="4206459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0</a:t>
              </a:r>
              <a:endParaRPr lang="es-PE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52684966-C3F0-E83C-5B2E-11D99D560BBA}"/>
                </a:ext>
              </a:extLst>
            </p:cNvPr>
            <p:cNvSpPr txBox="1"/>
            <p:nvPr/>
          </p:nvSpPr>
          <p:spPr>
            <a:xfrm>
              <a:off x="4992394" y="4186972"/>
              <a:ext cx="3000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1</a:t>
              </a:r>
              <a:endParaRPr lang="es-PE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36056532-BC9D-344D-36A3-1D4EBB948CA5}"/>
                </a:ext>
              </a:extLst>
            </p:cNvPr>
            <p:cNvSpPr txBox="1"/>
            <p:nvPr/>
          </p:nvSpPr>
          <p:spPr>
            <a:xfrm>
              <a:off x="389756" y="1464438"/>
              <a:ext cx="3000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1</a:t>
              </a:r>
              <a:endParaRPr lang="es-PE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64C6C501-7CB7-B92F-445A-6D09020DEF57}"/>
                </a:ext>
              </a:extLst>
            </p:cNvPr>
            <p:cNvSpPr txBox="1"/>
            <p:nvPr/>
          </p:nvSpPr>
          <p:spPr>
            <a:xfrm>
              <a:off x="5292477" y="3961347"/>
              <a:ext cx="12319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emb_dim_1</a:t>
              </a: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A386264C-F2F6-9EF2-0916-BCB590BECDCC}"/>
                </a:ext>
              </a:extLst>
            </p:cNvPr>
            <p:cNvSpPr txBox="1"/>
            <p:nvPr/>
          </p:nvSpPr>
          <p:spPr>
            <a:xfrm>
              <a:off x="252416" y="1118151"/>
              <a:ext cx="123463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emb_dim_2</a:t>
              </a:r>
            </a:p>
          </p:txBody>
        </p:sp>
      </p:grpSp>
      <p:graphicFrame>
        <p:nvGraphicFramePr>
          <p:cNvPr id="28" name="Tabla 27">
            <a:extLst>
              <a:ext uri="{FF2B5EF4-FFF2-40B4-BE49-F238E27FC236}">
                <a16:creationId xmlns:a16="http://schemas.microsoft.com/office/drawing/2014/main" id="{E881E9C0-C99F-7ACF-A2DB-A793ED883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077390"/>
              </p:ext>
            </p:extLst>
          </p:nvPr>
        </p:nvGraphicFramePr>
        <p:xfrm>
          <a:off x="5229697" y="666750"/>
          <a:ext cx="1061189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189">
                  <a:extLst>
                    <a:ext uri="{9D8B030D-6E8A-4147-A177-3AD203B41FA5}">
                      <a16:colId xmlns:a16="http://schemas.microsoft.com/office/drawing/2014/main" val="3554764651"/>
                    </a:ext>
                  </a:extLst>
                </a:gridCol>
              </a:tblGrid>
              <a:tr h="228109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dirty="0" err="1"/>
                        <a:t>categoria_fav</a:t>
                      </a:r>
                      <a:endParaRPr lang="es-PE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946074"/>
                  </a:ext>
                </a:extLst>
              </a:tr>
              <a:tr h="228109"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polo</a:t>
                      </a:r>
                      <a:endParaRPr lang="es-PE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422763"/>
                  </a:ext>
                </a:extLst>
              </a:tr>
              <a:tr h="228109"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camisa</a:t>
                      </a:r>
                      <a:endParaRPr lang="es-PE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677119"/>
                  </a:ext>
                </a:extLst>
              </a:tr>
              <a:tr h="228109"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zapatos</a:t>
                      </a:r>
                      <a:endParaRPr lang="es-PE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723439"/>
                  </a:ext>
                </a:extLst>
              </a:tr>
              <a:tr h="228109"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gorra</a:t>
                      </a:r>
                      <a:endParaRPr lang="es-PE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189315"/>
                  </a:ext>
                </a:extLst>
              </a:tr>
              <a:tr h="228109">
                <a:tc>
                  <a:txBody>
                    <a:bodyPr/>
                    <a:lstStyle/>
                    <a:p>
                      <a:pPr algn="ctr"/>
                      <a:r>
                        <a:rPr lang="es-PE" sz="1100" dirty="0"/>
                        <a:t>canotier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963957"/>
                  </a:ext>
                </a:extLst>
              </a:tr>
              <a:tr h="228109"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sandalias</a:t>
                      </a:r>
                      <a:endParaRPr lang="es-PE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240770"/>
                  </a:ext>
                </a:extLst>
              </a:tr>
              <a:tr h="228109">
                <a:tc>
                  <a:txBody>
                    <a:bodyPr/>
                    <a:lstStyle/>
                    <a:p>
                      <a:pPr algn="ctr"/>
                      <a:r>
                        <a:rPr lang="es-PE" sz="1100" dirty="0" err="1"/>
                        <a:t>chesterfield</a:t>
                      </a:r>
                      <a:endParaRPr lang="es-PE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034758"/>
                  </a:ext>
                </a:extLst>
              </a:tr>
              <a:tr h="228109"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zapatillas</a:t>
                      </a:r>
                      <a:endParaRPr lang="es-PE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398061"/>
                  </a:ext>
                </a:extLst>
              </a:tr>
              <a:tr h="228109">
                <a:tc>
                  <a:txBody>
                    <a:bodyPr/>
                    <a:lstStyle/>
                    <a:p>
                      <a:pPr algn="ctr"/>
                      <a:r>
                        <a:rPr lang="es-PE" sz="1100" dirty="0"/>
                        <a:t>chistera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505192"/>
                  </a:ext>
                </a:extLst>
              </a:tr>
            </a:tbl>
          </a:graphicData>
        </a:graphic>
      </p:graphicFrame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8300BDBD-B218-4E80-C118-B3D2FE1CC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842364"/>
              </p:ext>
            </p:extLst>
          </p:nvPr>
        </p:nvGraphicFramePr>
        <p:xfrm>
          <a:off x="6881351" y="666750"/>
          <a:ext cx="2079856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928">
                  <a:extLst>
                    <a:ext uri="{9D8B030D-6E8A-4147-A177-3AD203B41FA5}">
                      <a16:colId xmlns:a16="http://schemas.microsoft.com/office/drawing/2014/main" val="3554764651"/>
                    </a:ext>
                  </a:extLst>
                </a:gridCol>
                <a:gridCol w="1039928">
                  <a:extLst>
                    <a:ext uri="{9D8B030D-6E8A-4147-A177-3AD203B41FA5}">
                      <a16:colId xmlns:a16="http://schemas.microsoft.com/office/drawing/2014/main" val="3595412371"/>
                    </a:ext>
                  </a:extLst>
                </a:gridCol>
              </a:tblGrid>
              <a:tr h="228109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dirty="0"/>
                        <a:t>emb_dim_1</a:t>
                      </a:r>
                      <a:endParaRPr lang="es-PE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dirty="0"/>
                        <a:t>emb_dim_2</a:t>
                      </a:r>
                      <a:endParaRPr lang="es-PE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946074"/>
                  </a:ext>
                </a:extLst>
              </a:tr>
              <a:tr h="228109"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0.19</a:t>
                      </a:r>
                      <a:endParaRPr lang="es-PE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0.69</a:t>
                      </a:r>
                      <a:endParaRPr lang="es-PE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422763"/>
                  </a:ext>
                </a:extLst>
              </a:tr>
              <a:tr h="228109"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0.57</a:t>
                      </a:r>
                      <a:endParaRPr lang="es-PE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0.65</a:t>
                      </a:r>
                      <a:endParaRPr lang="es-PE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677119"/>
                  </a:ext>
                </a:extLst>
              </a:tr>
              <a:tr h="228109"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0.89</a:t>
                      </a:r>
                      <a:endParaRPr lang="es-PE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0.14</a:t>
                      </a:r>
                      <a:endParaRPr lang="es-PE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723439"/>
                  </a:ext>
                </a:extLst>
              </a:tr>
              <a:tr h="228109"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0.52</a:t>
                      </a:r>
                      <a:endParaRPr lang="es-PE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0.92</a:t>
                      </a:r>
                      <a:endParaRPr lang="es-PE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189315"/>
                  </a:ext>
                </a:extLst>
              </a:tr>
              <a:tr h="228109"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0.13</a:t>
                      </a:r>
                      <a:endParaRPr lang="es-PE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0.92</a:t>
                      </a:r>
                      <a:endParaRPr lang="es-PE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963957"/>
                  </a:ext>
                </a:extLst>
              </a:tr>
              <a:tr h="228109"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0.09</a:t>
                      </a:r>
                      <a:endParaRPr lang="es-PE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0.11</a:t>
                      </a:r>
                      <a:endParaRPr lang="es-PE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240770"/>
                  </a:ext>
                </a:extLst>
              </a:tr>
              <a:tr h="228109"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0.91</a:t>
                      </a:r>
                      <a:endParaRPr lang="es-PE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0.68</a:t>
                      </a:r>
                      <a:endParaRPr lang="es-PE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034758"/>
                  </a:ext>
                </a:extLst>
              </a:tr>
              <a:tr h="228109"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0.55</a:t>
                      </a:r>
                      <a:endParaRPr lang="es-PE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0.12</a:t>
                      </a:r>
                      <a:endParaRPr lang="es-PE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398061"/>
                  </a:ext>
                </a:extLst>
              </a:tr>
              <a:tr h="228109"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0.97</a:t>
                      </a:r>
                      <a:endParaRPr lang="es-PE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/>
                        <a:t>0.88</a:t>
                      </a:r>
                      <a:endParaRPr lang="es-PE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505192"/>
                  </a:ext>
                </a:extLst>
              </a:tr>
            </a:tbl>
          </a:graphicData>
        </a:graphic>
      </p:graphicFrame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80D76229-0707-C191-F91A-D6F4E770F4BE}"/>
              </a:ext>
            </a:extLst>
          </p:cNvPr>
          <p:cNvCxnSpPr>
            <a:cxnSpLocks/>
          </p:cNvCxnSpPr>
          <p:nvPr/>
        </p:nvCxnSpPr>
        <p:spPr>
          <a:xfrm>
            <a:off x="6330885" y="1983988"/>
            <a:ext cx="49497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object 3">
            <a:extLst>
              <a:ext uri="{FF2B5EF4-FFF2-40B4-BE49-F238E27FC236}">
                <a16:creationId xmlns:a16="http://schemas.microsoft.com/office/drawing/2014/main" id="{96473FAB-B059-154B-6CE4-D24F3F91AE57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08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D708B-AC01-66B9-66FF-69F3129D2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DA92B737-23A5-FD5D-8506-108B3AEB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9240"/>
            <a:ext cx="5211445" cy="738664"/>
          </a:xfrm>
        </p:spPr>
        <p:txBody>
          <a:bodyPr/>
          <a:lstStyle/>
          <a:p>
            <a:r>
              <a:rPr lang="es-PE" sz="2400" dirty="0" err="1"/>
              <a:t>Embeddings</a:t>
            </a:r>
            <a:br>
              <a:rPr lang="es-PE" sz="2400" b="0" dirty="0"/>
            </a:br>
            <a:endParaRPr lang="es-PE" sz="24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C6352D8-A4D4-DC3E-6587-95B9C37B544E}"/>
              </a:ext>
            </a:extLst>
          </p:cNvPr>
          <p:cNvGraphicFramePr>
            <a:graphicFrameLocks noGrp="1"/>
          </p:cNvGraphicFramePr>
          <p:nvPr/>
        </p:nvGraphicFramePr>
        <p:xfrm>
          <a:off x="1585278" y="787904"/>
          <a:ext cx="1257245" cy="3836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245">
                  <a:extLst>
                    <a:ext uri="{9D8B030D-6E8A-4147-A177-3AD203B41FA5}">
                      <a16:colId xmlns:a16="http://schemas.microsoft.com/office/drawing/2014/main" val="3554764651"/>
                    </a:ext>
                  </a:extLst>
                </a:gridCol>
              </a:tblGrid>
              <a:tr h="38363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categoria_fav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946074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polo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422763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camisa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677119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zapatos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723439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gorra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189315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/>
                        <a:t>canotier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963957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sandalias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240770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 err="1"/>
                        <a:t>chesterfield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034758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zapatillas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398061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/>
                        <a:t>chistera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505192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768E048-7BF2-860D-20DA-354EC2673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432818"/>
              </p:ext>
            </p:extLst>
          </p:nvPr>
        </p:nvGraphicFramePr>
        <p:xfrm>
          <a:off x="4572000" y="787904"/>
          <a:ext cx="3429000" cy="3836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355476465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59541237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857847441"/>
                    </a:ext>
                  </a:extLst>
                </a:gridCol>
              </a:tblGrid>
              <a:tr h="38363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emb_dim_1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emb_dim_2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emb_dim_3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946074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0.19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0.69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0.71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422763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0.57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0.65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0.48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677119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0.89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0.14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0.49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723439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0.52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0.92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0.64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189315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0.13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0.92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0.82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963957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0.09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0.11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0.85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240770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0.91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0.68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0.18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034758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0.55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0.12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0.52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398061"/>
                  </a:ext>
                </a:extLst>
              </a:tr>
              <a:tr h="38363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0.97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0.88</a:t>
                      </a:r>
                      <a:endParaRPr lang="es-P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0.35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505192"/>
                  </a:ext>
                </a:extLst>
              </a:tr>
            </a:tbl>
          </a:graphicData>
        </a:graphic>
      </p:graphicFrame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EBC01EC8-AE06-0850-3943-1ED1FE50BF9C}"/>
              </a:ext>
            </a:extLst>
          </p:cNvPr>
          <p:cNvCxnSpPr/>
          <p:nvPr/>
        </p:nvCxnSpPr>
        <p:spPr>
          <a:xfrm>
            <a:off x="3276600" y="2724150"/>
            <a:ext cx="9144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object 3">
            <a:extLst>
              <a:ext uri="{FF2B5EF4-FFF2-40B4-BE49-F238E27FC236}">
                <a16:creationId xmlns:a16="http://schemas.microsoft.com/office/drawing/2014/main" id="{A86B4807-ACDC-58CA-7143-FAA984F0FA0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1693</TotalTime>
  <Words>543</Words>
  <Application>Microsoft Office PowerPoint</Application>
  <PresentationFormat>Presentación en pantalla (16:9)</PresentationFormat>
  <Paragraphs>389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Cambria Math</vt:lpstr>
      <vt:lpstr>Roboto</vt:lpstr>
      <vt:lpstr>Times New Roman</vt:lpstr>
      <vt:lpstr>Office Theme</vt:lpstr>
      <vt:lpstr>Aprendizaje Profundo Facultad de Ingeniería Universidad de Buenos Aires</vt:lpstr>
      <vt:lpstr>Learning curve</vt:lpstr>
      <vt:lpstr>Learning curve </vt:lpstr>
      <vt:lpstr>Learning curve </vt:lpstr>
      <vt:lpstr>Learning curve </vt:lpstr>
      <vt:lpstr>Dropout</vt:lpstr>
      <vt:lpstr>Dropout </vt:lpstr>
      <vt:lpstr>Dropout </vt:lpstr>
      <vt:lpstr>Embeddings</vt:lpstr>
      <vt:lpstr>Embeddings </vt:lpstr>
      <vt:lpstr>Embeddings </vt:lpstr>
      <vt:lpstr>Embeddings </vt:lpstr>
      <vt:lpstr>Embeddings </vt:lpstr>
      <vt:lpstr>Embeddings </vt:lpstr>
      <vt:lpstr>Embeddings </vt:lpstr>
      <vt:lpstr>Embeddings </vt:lpstr>
      <vt:lpstr>Embeddings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Gerardo Vilcamiza Espinoza</cp:lastModifiedBy>
  <cp:revision>55</cp:revision>
  <dcterms:created xsi:type="dcterms:W3CDTF">2025-10-30T08:21:35Z</dcterms:created>
  <dcterms:modified xsi:type="dcterms:W3CDTF">2025-11-13T13:40:03Z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2025-10-30T00:00:00Z</vt:filetime>
  </property>
  <property fmtid="{D5CDD505-2E9C-101B-9397-08002B2CF9AE}" pid="5" name="MSIP_Label_c15ead3b-a842-409e-8059-3e3468c48585_ActionId">
    <vt:lpwstr>bc5fef3a-99bf-4a25-b25c-3fbfb9348259</vt:lpwstr>
  </property>
  <property fmtid="{D5CDD505-2E9C-101B-9397-08002B2CF9AE}" pid="6" name="MSIP_Label_c15ead3b-a842-409e-8059-3e3468c48585_ContentBits">
    <vt:lpwstr>2</vt:lpwstr>
  </property>
  <property fmtid="{D5CDD505-2E9C-101B-9397-08002B2CF9AE}" pid="7" name="MSIP_Label_c15ead3b-a842-409e-8059-3e3468c48585_Enabled">
    <vt:lpwstr>true</vt:lpwstr>
  </property>
  <property fmtid="{D5CDD505-2E9C-101B-9397-08002B2CF9AE}" pid="8" name="MSIP_Label_c15ead3b-a842-409e-8059-3e3468c48585_Method">
    <vt:lpwstr>Standard</vt:lpwstr>
  </property>
  <property fmtid="{D5CDD505-2E9C-101B-9397-08002B2CF9AE}" pid="9" name="MSIP_Label_c15ead3b-a842-409e-8059-3e3468c48585_SiteId">
    <vt:lpwstr>5d93ebcc-f769-4380-8b7e-289fc972da1b</vt:lpwstr>
  </property>
  <property fmtid="{D5CDD505-2E9C-101B-9397-08002B2CF9AE}" pid="10" name="Producer">
    <vt:lpwstr>Microsoft® PowerPoint® for Microsoft 365</vt:lpwstr>
  </property>
</Properties>
</file>